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5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>
        <p:scale>
          <a:sx n="98" d="100"/>
          <a:sy n="98" d="100"/>
        </p:scale>
        <p:origin x="82" y="8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3522837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8.png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D428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6035040"/>
            <a:ext cx="12188952" cy="228600"/>
          </a:xfrm>
          <a:prstGeom prst="rect">
            <a:avLst/>
          </a:prstGeom>
          <a:solidFill>
            <a:srgbClr val="C8102E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1097280"/>
            <a:ext cx="109728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4400" b="1" dirty="0">
                <a:solidFill>
                  <a:srgbClr val="FFFFFF"/>
                </a:solidFill>
              </a:rPr>
              <a:t>NBA Statistics Dashboard</a:t>
            </a:r>
            <a:endParaRPr lang="en-US" sz="4400" dirty="0"/>
          </a:p>
        </p:txBody>
      </p:sp>
      <p:sp>
        <p:nvSpPr>
          <p:cNvPr id="4" name="Text 2"/>
          <p:cNvSpPr/>
          <p:nvPr/>
        </p:nvSpPr>
        <p:spPr>
          <a:xfrm>
            <a:off x="548640" y="2148840"/>
            <a:ext cx="10972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i="1" dirty="0">
                <a:solidFill>
                  <a:srgbClr val="AACCFF"/>
                </a:solidFill>
              </a:rPr>
              <a:t>Visualizing 80 Years of Basketball Evolution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3200400" y="2834640"/>
            <a:ext cx="5760720" cy="36576"/>
          </a:xfrm>
          <a:prstGeom prst="rect">
            <a:avLst/>
          </a:prstGeom>
          <a:solidFill>
            <a:srgbClr val="C8102E"/>
          </a:solidFill>
          <a:ln/>
        </p:spPr>
      </p:sp>
      <p:sp>
        <p:nvSpPr>
          <p:cNvPr id="6" name="Text 4"/>
          <p:cNvSpPr/>
          <p:nvPr/>
        </p:nvSpPr>
        <p:spPr>
          <a:xfrm>
            <a:off x="548640" y="3017520"/>
            <a:ext cx="109728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C8102E"/>
                </a:solidFill>
              </a:rPr>
              <a:t>DataVIZZ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548640" y="356616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CCDDFF"/>
                </a:solidFill>
              </a:rPr>
              <a:t>Nurettin Macit  ·  Mehmet Arda Öncel  ·  Yusuf Oğuz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548640" y="3977640"/>
            <a:ext cx="10972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99BBEE"/>
                </a:solidFill>
              </a:rPr>
              <a:t>YZV475E – Data Visualization  ·  ITU  ·  May 2026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502920"/>
          </a:xfrm>
          <a:prstGeom prst="rect">
            <a:avLst/>
          </a:prstGeom>
          <a:solidFill>
            <a:srgbClr val="1D428A"/>
          </a:solidFill>
          <a:ln/>
        </p:spPr>
      </p:sp>
      <p:sp>
        <p:nvSpPr>
          <p:cNvPr id="3" name="Text 1"/>
          <p:cNvSpPr/>
          <p:nvPr/>
        </p:nvSpPr>
        <p:spPr>
          <a:xfrm>
            <a:off x="228600" y="45720"/>
            <a:ext cx="114300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FFFFF"/>
                </a:solidFill>
              </a:rPr>
              <a:t>Agenda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10972800" y="6400800"/>
            <a:ext cx="457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CCCCCC"/>
                </a:solidFill>
              </a:rPr>
              <a:t>2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1371600" y="685800"/>
            <a:ext cx="9418320" cy="548640"/>
          </a:xfrm>
          <a:prstGeom prst="rect">
            <a:avLst/>
          </a:prstGeom>
          <a:solidFill>
            <a:srgbClr val="EEF3FB"/>
          </a:solidFill>
          <a:ln w="6350">
            <a:solidFill>
              <a:srgbClr val="CCCCCC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371600" y="685800"/>
            <a:ext cx="411480" cy="548640"/>
          </a:xfrm>
          <a:prstGeom prst="rect">
            <a:avLst/>
          </a:prstGeom>
          <a:solidFill>
            <a:srgbClr val="1D428A"/>
          </a:solidFill>
          <a:ln/>
        </p:spPr>
      </p:sp>
      <p:sp>
        <p:nvSpPr>
          <p:cNvPr id="7" name="Text 5"/>
          <p:cNvSpPr/>
          <p:nvPr/>
        </p:nvSpPr>
        <p:spPr>
          <a:xfrm>
            <a:off x="1371600" y="685800"/>
            <a:ext cx="411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1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1920240" y="685800"/>
            <a:ext cx="8686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11111"/>
                </a:solidFill>
              </a:rPr>
              <a:t>Dataset &amp; Motivation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1371600" y="1353312"/>
            <a:ext cx="9418320" cy="548640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1371600" y="1353312"/>
            <a:ext cx="411480" cy="548640"/>
          </a:xfrm>
          <a:prstGeom prst="rect">
            <a:avLst/>
          </a:prstGeom>
          <a:solidFill>
            <a:srgbClr val="1D428A"/>
          </a:solidFill>
          <a:ln/>
        </p:spPr>
      </p:sp>
      <p:sp>
        <p:nvSpPr>
          <p:cNvPr id="11" name="Text 9"/>
          <p:cNvSpPr/>
          <p:nvPr/>
        </p:nvSpPr>
        <p:spPr>
          <a:xfrm>
            <a:off x="1371600" y="1353312"/>
            <a:ext cx="411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2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1920240" y="1353312"/>
            <a:ext cx="8686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11111"/>
                </a:solidFill>
              </a:rPr>
              <a:t>RQ1 — Three-Point Revolution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1371600" y="2020824"/>
            <a:ext cx="9418320" cy="548640"/>
          </a:xfrm>
          <a:prstGeom prst="rect">
            <a:avLst/>
          </a:prstGeom>
          <a:solidFill>
            <a:srgbClr val="EEF3FB"/>
          </a:solidFill>
          <a:ln w="6350">
            <a:solidFill>
              <a:srgbClr val="CCCCCC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1371600" y="2020824"/>
            <a:ext cx="411480" cy="548640"/>
          </a:xfrm>
          <a:prstGeom prst="rect">
            <a:avLst/>
          </a:prstGeom>
          <a:solidFill>
            <a:srgbClr val="1D428A"/>
          </a:solidFill>
          <a:ln/>
        </p:spPr>
      </p:sp>
      <p:sp>
        <p:nvSpPr>
          <p:cNvPr id="15" name="Text 13"/>
          <p:cNvSpPr/>
          <p:nvPr/>
        </p:nvSpPr>
        <p:spPr>
          <a:xfrm>
            <a:off x="1371600" y="2020824"/>
            <a:ext cx="411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3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1920240" y="2020824"/>
            <a:ext cx="8686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11111"/>
                </a:solidFill>
              </a:rPr>
              <a:t>RQ2 — Physical Attributes vs Performance</a:t>
            </a:r>
            <a:endParaRPr lang="en-US" sz="1400" dirty="0"/>
          </a:p>
        </p:txBody>
      </p:sp>
      <p:sp>
        <p:nvSpPr>
          <p:cNvPr id="17" name="Shape 15"/>
          <p:cNvSpPr/>
          <p:nvPr/>
        </p:nvSpPr>
        <p:spPr>
          <a:xfrm>
            <a:off x="1371600" y="2688336"/>
            <a:ext cx="9418320" cy="548640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1371600" y="2688336"/>
            <a:ext cx="411480" cy="548640"/>
          </a:xfrm>
          <a:prstGeom prst="rect">
            <a:avLst/>
          </a:prstGeom>
          <a:solidFill>
            <a:srgbClr val="1D428A"/>
          </a:solidFill>
          <a:ln/>
        </p:spPr>
      </p:sp>
      <p:sp>
        <p:nvSpPr>
          <p:cNvPr id="19" name="Text 17"/>
          <p:cNvSpPr/>
          <p:nvPr/>
        </p:nvSpPr>
        <p:spPr>
          <a:xfrm>
            <a:off x="1371600" y="2688336"/>
            <a:ext cx="411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4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1920240" y="2688336"/>
            <a:ext cx="8686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11111"/>
                </a:solidFill>
              </a:rPr>
              <a:t>RQ3 — Career Arc &amp; Peak Age</a:t>
            </a:r>
            <a:endParaRPr lang="en-US" sz="1400" dirty="0"/>
          </a:p>
        </p:txBody>
      </p:sp>
      <p:sp>
        <p:nvSpPr>
          <p:cNvPr id="21" name="Shape 19"/>
          <p:cNvSpPr/>
          <p:nvPr/>
        </p:nvSpPr>
        <p:spPr>
          <a:xfrm>
            <a:off x="1371600" y="3355848"/>
            <a:ext cx="9418320" cy="548640"/>
          </a:xfrm>
          <a:prstGeom prst="rect">
            <a:avLst/>
          </a:prstGeom>
          <a:solidFill>
            <a:srgbClr val="EEF3FB"/>
          </a:solidFill>
          <a:ln w="6350">
            <a:solidFill>
              <a:srgbClr val="CCCCCC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1371600" y="3355848"/>
            <a:ext cx="411480" cy="548640"/>
          </a:xfrm>
          <a:prstGeom prst="rect">
            <a:avLst/>
          </a:prstGeom>
          <a:solidFill>
            <a:srgbClr val="1D428A"/>
          </a:solidFill>
          <a:ln/>
        </p:spPr>
      </p:sp>
      <p:sp>
        <p:nvSpPr>
          <p:cNvPr id="23" name="Text 21"/>
          <p:cNvSpPr/>
          <p:nvPr/>
        </p:nvSpPr>
        <p:spPr>
          <a:xfrm>
            <a:off x="1371600" y="3355848"/>
            <a:ext cx="411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5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1920240" y="3355848"/>
            <a:ext cx="8686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11111"/>
                </a:solidFill>
              </a:rPr>
              <a:t>RQ4 — Geography of NBA Players</a:t>
            </a:r>
            <a:endParaRPr lang="en-US" sz="1400" dirty="0"/>
          </a:p>
        </p:txBody>
      </p:sp>
      <p:sp>
        <p:nvSpPr>
          <p:cNvPr id="25" name="Shape 23"/>
          <p:cNvSpPr/>
          <p:nvPr/>
        </p:nvSpPr>
        <p:spPr>
          <a:xfrm>
            <a:off x="1371600" y="4023360"/>
            <a:ext cx="9418320" cy="548640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1371600" y="4023360"/>
            <a:ext cx="411480" cy="548640"/>
          </a:xfrm>
          <a:prstGeom prst="rect">
            <a:avLst/>
          </a:prstGeom>
          <a:solidFill>
            <a:srgbClr val="1D428A"/>
          </a:solidFill>
          <a:ln/>
        </p:spPr>
      </p:sp>
      <p:sp>
        <p:nvSpPr>
          <p:cNvPr id="27" name="Text 25"/>
          <p:cNvSpPr/>
          <p:nvPr/>
        </p:nvSpPr>
        <p:spPr>
          <a:xfrm>
            <a:off x="1371600" y="4023360"/>
            <a:ext cx="411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6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1920240" y="4023360"/>
            <a:ext cx="8686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11111"/>
                </a:solidFill>
              </a:rPr>
              <a:t>RQ5 — Position Profiles</a:t>
            </a:r>
            <a:endParaRPr lang="en-US" sz="1400" dirty="0"/>
          </a:p>
        </p:txBody>
      </p:sp>
      <p:sp>
        <p:nvSpPr>
          <p:cNvPr id="29" name="Shape 27"/>
          <p:cNvSpPr/>
          <p:nvPr/>
        </p:nvSpPr>
        <p:spPr>
          <a:xfrm>
            <a:off x="1371600" y="4690872"/>
            <a:ext cx="9418320" cy="548640"/>
          </a:xfrm>
          <a:prstGeom prst="rect">
            <a:avLst/>
          </a:prstGeom>
          <a:solidFill>
            <a:srgbClr val="EEF3FB"/>
          </a:solidFill>
          <a:ln w="6350">
            <a:solidFill>
              <a:srgbClr val="CCCCCC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1371600" y="4690872"/>
            <a:ext cx="411480" cy="548640"/>
          </a:xfrm>
          <a:prstGeom prst="rect">
            <a:avLst/>
          </a:prstGeom>
          <a:solidFill>
            <a:srgbClr val="C8102E"/>
          </a:solidFill>
          <a:ln/>
        </p:spPr>
      </p:sp>
      <p:sp>
        <p:nvSpPr>
          <p:cNvPr id="31" name="Text 29"/>
          <p:cNvSpPr/>
          <p:nvPr/>
        </p:nvSpPr>
        <p:spPr>
          <a:xfrm>
            <a:off x="1371600" y="4690872"/>
            <a:ext cx="411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7</a:t>
            </a:r>
            <a:endParaRPr lang="en-US" sz="1300" dirty="0"/>
          </a:p>
        </p:txBody>
      </p:sp>
      <p:sp>
        <p:nvSpPr>
          <p:cNvPr id="32" name="Text 30"/>
          <p:cNvSpPr/>
          <p:nvPr/>
        </p:nvSpPr>
        <p:spPr>
          <a:xfrm>
            <a:off x="1920240" y="4690872"/>
            <a:ext cx="8686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11111"/>
                </a:solidFill>
              </a:rPr>
              <a:t>Technical Implementation</a:t>
            </a:r>
            <a:endParaRPr lang="en-US" sz="1400" dirty="0"/>
          </a:p>
        </p:txBody>
      </p:sp>
      <p:sp>
        <p:nvSpPr>
          <p:cNvPr id="33" name="Shape 31"/>
          <p:cNvSpPr/>
          <p:nvPr/>
        </p:nvSpPr>
        <p:spPr>
          <a:xfrm>
            <a:off x="1371600" y="5358384"/>
            <a:ext cx="9418320" cy="548640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1371600" y="5358384"/>
            <a:ext cx="411480" cy="548640"/>
          </a:xfrm>
          <a:prstGeom prst="rect">
            <a:avLst/>
          </a:prstGeom>
          <a:solidFill>
            <a:srgbClr val="444444"/>
          </a:solidFill>
          <a:ln/>
        </p:spPr>
      </p:sp>
      <p:sp>
        <p:nvSpPr>
          <p:cNvPr id="35" name="Text 33"/>
          <p:cNvSpPr/>
          <p:nvPr/>
        </p:nvSpPr>
        <p:spPr>
          <a:xfrm>
            <a:off x="1371600" y="5358384"/>
            <a:ext cx="411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8</a:t>
            </a:r>
            <a:endParaRPr lang="en-US" sz="1300" dirty="0"/>
          </a:p>
        </p:txBody>
      </p:sp>
      <p:sp>
        <p:nvSpPr>
          <p:cNvPr id="36" name="Text 34"/>
          <p:cNvSpPr/>
          <p:nvPr/>
        </p:nvSpPr>
        <p:spPr>
          <a:xfrm>
            <a:off x="1920240" y="5358384"/>
            <a:ext cx="8686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11111"/>
                </a:solidFill>
              </a:rPr>
              <a:t>Conclusion</a:t>
            </a:r>
            <a:endParaRPr lang="en-US" sz="14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502920"/>
          </a:xfrm>
          <a:prstGeom prst="rect">
            <a:avLst/>
          </a:prstGeom>
          <a:solidFill>
            <a:srgbClr val="1D428A"/>
          </a:solidFill>
          <a:ln/>
        </p:spPr>
      </p:sp>
      <p:sp>
        <p:nvSpPr>
          <p:cNvPr id="3" name="Text 1"/>
          <p:cNvSpPr/>
          <p:nvPr/>
        </p:nvSpPr>
        <p:spPr>
          <a:xfrm>
            <a:off x="228600" y="45720"/>
            <a:ext cx="114300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FFFFF"/>
                </a:solidFill>
              </a:rPr>
              <a:t>Dataset &amp; Motivation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10972800" y="6400800"/>
            <a:ext cx="457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CCCCCC"/>
                </a:solidFill>
              </a:rPr>
              <a:t>3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274320" y="640080"/>
            <a:ext cx="5394960" cy="5943600"/>
          </a:xfrm>
          <a:prstGeom prst="rect">
            <a:avLst/>
          </a:prstGeom>
          <a:solidFill>
            <a:srgbClr val="EEF3FB"/>
          </a:solidFill>
          <a:ln w="12700">
            <a:solidFill>
              <a:srgbClr val="1D428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685800"/>
            <a:ext cx="5029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D428A"/>
                </a:solidFill>
              </a:rPr>
              <a:t>Dataset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457200" y="1143000"/>
            <a:ext cx="5029200" cy="5212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Bef>
                <a:spcPts val="400"/>
              </a:spcBef>
              <a:buSzPct val="100000"/>
              <a:buChar char="•"/>
            </a:pPr>
            <a:r>
              <a:rPr lang="en-US" sz="1200" dirty="0">
                <a:solidFill>
                  <a:srgbClr val="111111"/>
                </a:solidFill>
              </a:rPr>
              <a:t>NBA Players &amp; Teams Statistics (1947–2024)</a:t>
            </a:r>
            <a:endParaRPr lang="en-US" sz="1200" dirty="0"/>
          </a:p>
          <a:p>
            <a:pPr marL="342900" indent="-342900">
              <a:spcBef>
                <a:spcPts val="400"/>
              </a:spcBef>
              <a:buSzPct val="100000"/>
              <a:buChar char="•"/>
            </a:pPr>
            <a:r>
              <a:rPr lang="en-US" sz="1200" dirty="0">
                <a:solidFill>
                  <a:srgbClr val="111111"/>
                </a:solidFill>
              </a:rPr>
              <a:t>Source: Kaggle / Basketball Reference</a:t>
            </a:r>
            <a:endParaRPr lang="en-US" sz="1200" dirty="0"/>
          </a:p>
          <a:p>
            <a:pPr marL="342900" indent="-342900">
              <a:spcBef>
                <a:spcPts val="400"/>
              </a:spcBef>
              <a:buSzPct val="100000"/>
              <a:buChar char="•"/>
            </a:pPr>
            <a:r>
              <a:rPr lang="en-US" sz="1200" dirty="0">
                <a:solidFill>
                  <a:srgbClr val="111111"/>
                </a:solidFill>
              </a:rPr>
              <a:t>33,278 rows × 32 columns · 11 MB</a:t>
            </a:r>
            <a:endParaRPr lang="en-US" sz="1200" dirty="0"/>
          </a:p>
          <a:p>
            <a:pPr marL="342900" indent="-342900">
              <a:spcBef>
                <a:spcPts val="400"/>
              </a:spcBef>
              <a:buSzPct val="100000"/>
              <a:buChar char="•"/>
            </a:pPr>
            <a:r>
              <a:rPr lang="en-US" sz="1200" dirty="0">
                <a:solidFill>
                  <a:srgbClr val="111111"/>
                </a:solidFill>
              </a:rPr>
              <a:t>22 CSV files</a:t>
            </a:r>
            <a:endParaRPr lang="en-US" sz="1200" dirty="0"/>
          </a:p>
          <a:p>
            <a:pPr marL="342900" indent="-342900">
              <a:spcBef>
                <a:spcPts val="400"/>
              </a:spcBef>
              <a:buSzPct val="100000"/>
              <a:buChar char="•"/>
            </a:pPr>
            <a:r>
              <a:rPr lang="en-US" sz="1200" dirty="0">
                <a:solidFill>
                  <a:srgbClr val="111111"/>
                </a:solidFill>
              </a:rPr>
              <a:t>+ 2 supplementary datasets</a:t>
            </a:r>
            <a:endParaRPr lang="en-US" sz="1200" dirty="0"/>
          </a:p>
          <a:p>
            <a:pPr marL="342900" indent="-342900">
              <a:spcBef>
                <a:spcPts val="400"/>
              </a:spcBef>
              <a:buSzPct val="100000"/>
              <a:buChar char="•"/>
            </a:pPr>
            <a:r>
              <a:rPr lang="en-US" sz="1200" dirty="0">
                <a:solidFill>
                  <a:srgbClr val="111111"/>
                </a:solidFill>
              </a:rPr>
              <a:t>  (country &amp; birthplace data)</a:t>
            </a:r>
            <a:endParaRPr lang="en-US" sz="1200" dirty="0"/>
          </a:p>
          <a:p>
            <a:pPr marL="342900" indent="-342900">
              <a:spcBef>
                <a:spcPts val="400"/>
              </a:spcBef>
              <a:buSzPct val="100000"/>
              <a:buChar char="•"/>
            </a:pPr>
            <a:r>
              <a:rPr lang="en-US" sz="1200" dirty="0">
                <a:solidFill>
                  <a:srgbClr val="111111"/>
                </a:solidFill>
              </a:rPr>
              <a:t>Leagues: NBA, ABA, BAA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5943600" y="640080"/>
            <a:ext cx="5943600" cy="5943600"/>
          </a:xfrm>
          <a:prstGeom prst="rect">
            <a:avLst/>
          </a:prstGeom>
          <a:solidFill>
            <a:srgbClr val="FFF0F0"/>
          </a:solidFill>
          <a:ln w="12700">
            <a:solidFill>
              <a:srgbClr val="C8102E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126480" y="685800"/>
            <a:ext cx="55778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C8102E"/>
                </a:solidFill>
              </a:rPr>
              <a:t>Why NBA?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6126480" y="1143000"/>
            <a:ext cx="5394960" cy="5212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Bef>
                <a:spcPts val="400"/>
              </a:spcBef>
              <a:buSzPct val="100000"/>
              <a:buChar char="•"/>
            </a:pPr>
            <a:r>
              <a:rPr lang="en-US" sz="1200" dirty="0">
                <a:solidFill>
                  <a:srgbClr val="111111"/>
                </a:solidFill>
              </a:rPr>
              <a:t>Nearly 80 years of continuous data</a:t>
            </a:r>
            <a:endParaRPr lang="en-US" sz="1200" dirty="0"/>
          </a:p>
          <a:p>
            <a:pPr marL="342900" indent="-342900">
              <a:spcBef>
                <a:spcPts val="400"/>
              </a:spcBef>
              <a:buSzPct val="100000"/>
              <a:buChar char="•"/>
            </a:pPr>
            <a:r>
              <a:rPr lang="en-US" sz="1200" dirty="0">
                <a:solidFill>
                  <a:srgbClr val="111111"/>
                </a:solidFill>
              </a:rPr>
              <a:t>Multiple analysis dimensions:</a:t>
            </a:r>
            <a:endParaRPr lang="en-US" sz="1200" dirty="0"/>
          </a:p>
          <a:p>
            <a:pPr marL="342900" indent="-342900">
              <a:spcBef>
                <a:spcPts val="400"/>
              </a:spcBef>
              <a:buSzPct val="100000"/>
              <a:buChar char="•"/>
            </a:pPr>
            <a:r>
              <a:rPr lang="en-US" sz="1200" dirty="0">
                <a:solidFill>
                  <a:srgbClr val="111111"/>
                </a:solidFill>
              </a:rPr>
              <a:t>  temporal, spatial, physical,</a:t>
            </a:r>
            <a:endParaRPr lang="en-US" sz="1200" dirty="0"/>
          </a:p>
          <a:p>
            <a:pPr marL="342900" indent="-342900">
              <a:spcBef>
                <a:spcPts val="400"/>
              </a:spcBef>
              <a:buSzPct val="100000"/>
              <a:buChar char="•"/>
            </a:pPr>
            <a:r>
              <a:rPr lang="en-US" sz="1200" dirty="0">
                <a:solidFill>
                  <a:srgbClr val="111111"/>
                </a:solidFill>
              </a:rPr>
              <a:t>  performance</a:t>
            </a:r>
            <a:endParaRPr lang="en-US" sz="1200" dirty="0"/>
          </a:p>
          <a:p>
            <a:pPr marL="342900" indent="-342900">
              <a:spcBef>
                <a:spcPts val="400"/>
              </a:spcBef>
              <a:buSzPct val="100000"/>
              <a:buChar char="•"/>
            </a:pPr>
            <a:r>
              <a:rPr lang="en-US" sz="1200" dirty="0">
                <a:solidFill>
                  <a:srgbClr val="111111"/>
                </a:solidFill>
              </a:rPr>
              <a:t>Publicly available &amp; well-structured</a:t>
            </a:r>
            <a:endParaRPr lang="en-US" sz="1200" dirty="0"/>
          </a:p>
          <a:p>
            <a:pPr marL="342900" indent="-342900">
              <a:spcBef>
                <a:spcPts val="400"/>
              </a:spcBef>
              <a:buSzPct val="100000"/>
              <a:buChar char="•"/>
            </a:pPr>
            <a:r>
              <a:rPr lang="en-US" sz="1200" dirty="0">
                <a:solidFill>
                  <a:srgbClr val="111111"/>
                </a:solidFill>
              </a:rPr>
              <a:t>One of the most tactically</a:t>
            </a:r>
            <a:endParaRPr lang="en-US" sz="1200" dirty="0"/>
          </a:p>
          <a:p>
            <a:pPr marL="342900" indent="-342900">
              <a:spcBef>
                <a:spcPts val="400"/>
              </a:spcBef>
              <a:buSzPct val="100000"/>
              <a:buChar char="•"/>
            </a:pPr>
            <a:r>
              <a:rPr lang="en-US" sz="1200" dirty="0">
                <a:solidFill>
                  <a:srgbClr val="111111"/>
                </a:solidFill>
              </a:rPr>
              <a:t>  transformed sports leagues</a:t>
            </a:r>
            <a:endParaRPr lang="en-US" sz="1200" dirty="0"/>
          </a:p>
          <a:p>
            <a:pPr marL="342900" indent="-342900">
              <a:spcBef>
                <a:spcPts val="400"/>
              </a:spcBef>
              <a:buSzPct val="100000"/>
              <a:buChar char="•"/>
            </a:pPr>
            <a:r>
              <a:rPr lang="en-US" sz="1200" dirty="0">
                <a:solidFill>
                  <a:srgbClr val="111111"/>
                </a:solidFill>
              </a:rPr>
              <a:t>  in history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502920"/>
          </a:xfrm>
          <a:prstGeom prst="rect">
            <a:avLst/>
          </a:prstGeom>
          <a:solidFill>
            <a:srgbClr val="1D428A"/>
          </a:solidFill>
          <a:ln/>
        </p:spPr>
      </p:sp>
      <p:sp>
        <p:nvSpPr>
          <p:cNvPr id="3" name="Text 1"/>
          <p:cNvSpPr/>
          <p:nvPr/>
        </p:nvSpPr>
        <p:spPr>
          <a:xfrm>
            <a:off x="228600" y="45720"/>
            <a:ext cx="114300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FFFFF"/>
                </a:solidFill>
              </a:rPr>
              <a:t>RQ1 — Three-Point Revolution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10972800" y="6400800"/>
            <a:ext cx="457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CCCCCC"/>
                </a:solidFill>
              </a:rPr>
              <a:t>4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274320" y="548640"/>
            <a:ext cx="116128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555555"/>
                </a:solidFill>
              </a:rPr>
              <a:t>How has the three-point shot transformed NBA gameplay?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274320" y="91440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D428A"/>
                </a:solidFill>
              </a:rPr>
              <a:t>Key Facts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274320" y="1371600"/>
            <a:ext cx="4128086" cy="914400"/>
          </a:xfrm>
          <a:prstGeom prst="rect">
            <a:avLst/>
          </a:prstGeom>
          <a:solidFill>
            <a:srgbClr val="EEF3FB"/>
          </a:solidFill>
          <a:ln w="6350">
            <a:solidFill>
              <a:srgbClr val="CCCCC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65760" y="1417320"/>
            <a:ext cx="14630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C8102E"/>
                </a:solidFill>
              </a:rPr>
              <a:t>3.1</a:t>
            </a:r>
            <a:endParaRPr lang="en-US" sz="2800" dirty="0"/>
          </a:p>
        </p:txBody>
      </p:sp>
      <p:sp>
        <p:nvSpPr>
          <p:cNvPr id="9" name="Text 7"/>
          <p:cNvSpPr/>
          <p:nvPr/>
        </p:nvSpPr>
        <p:spPr>
          <a:xfrm>
            <a:off x="1920240" y="1417320"/>
            <a:ext cx="31089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11111"/>
                </a:solidFill>
              </a:rPr>
              <a:t>3PA / game in 1980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274320" y="2423160"/>
            <a:ext cx="4128086" cy="914400"/>
          </a:xfrm>
          <a:prstGeom prst="rect">
            <a:avLst/>
          </a:prstGeom>
          <a:solidFill>
            <a:srgbClr val="F9F9F9"/>
          </a:solidFill>
          <a:ln w="6350">
            <a:solidFill>
              <a:srgbClr val="CCCCCC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65760" y="2468880"/>
            <a:ext cx="14630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C8102E"/>
                </a:solidFill>
              </a:rPr>
              <a:t>35.6</a:t>
            </a:r>
            <a:endParaRPr lang="en-US" sz="2800" dirty="0"/>
          </a:p>
        </p:txBody>
      </p:sp>
      <p:sp>
        <p:nvSpPr>
          <p:cNvPr id="12" name="Text 10"/>
          <p:cNvSpPr/>
          <p:nvPr/>
        </p:nvSpPr>
        <p:spPr>
          <a:xfrm>
            <a:off x="1920240" y="2468880"/>
            <a:ext cx="31089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11111"/>
                </a:solidFill>
              </a:rPr>
              <a:t>3PA / game in 2024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274320" y="3474720"/>
            <a:ext cx="4128086" cy="914400"/>
          </a:xfrm>
          <a:prstGeom prst="rect">
            <a:avLst/>
          </a:prstGeom>
          <a:solidFill>
            <a:srgbClr val="EEF3FB"/>
          </a:solidFill>
          <a:ln w="6350">
            <a:solidFill>
              <a:srgbClr val="CCCCCC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65760" y="3520440"/>
            <a:ext cx="14630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C8102E"/>
                </a:solidFill>
              </a:rPr>
              <a:t>11×</a:t>
            </a:r>
            <a:endParaRPr lang="en-US" sz="2800" dirty="0"/>
          </a:p>
        </p:txBody>
      </p:sp>
      <p:sp>
        <p:nvSpPr>
          <p:cNvPr id="15" name="Text 13"/>
          <p:cNvSpPr/>
          <p:nvPr/>
        </p:nvSpPr>
        <p:spPr>
          <a:xfrm>
            <a:off x="1920240" y="3520440"/>
            <a:ext cx="31089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11111"/>
                </a:solidFill>
              </a:rPr>
              <a:t>increase in 44 years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274320" y="4526280"/>
            <a:ext cx="4128086" cy="914400"/>
          </a:xfrm>
          <a:prstGeom prst="rect">
            <a:avLst/>
          </a:prstGeom>
          <a:solidFill>
            <a:srgbClr val="F9F9F9"/>
          </a:solidFill>
          <a:ln w="6350">
            <a:solidFill>
              <a:srgbClr val="CCCCCC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65760" y="4572000"/>
            <a:ext cx="14630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C8102E"/>
                </a:solidFill>
              </a:rPr>
              <a:t>39.6%</a:t>
            </a:r>
            <a:endParaRPr lang="en-US" sz="2800" dirty="0"/>
          </a:p>
        </p:txBody>
      </p:sp>
      <p:sp>
        <p:nvSpPr>
          <p:cNvPr id="18" name="Text 16"/>
          <p:cNvSpPr/>
          <p:nvPr/>
        </p:nvSpPr>
        <p:spPr>
          <a:xfrm>
            <a:off x="1920240" y="4572000"/>
            <a:ext cx="31089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11111"/>
                </a:solidFill>
              </a:rPr>
              <a:t>of all FGA in 2024 are 3s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274320" y="5623560"/>
            <a:ext cx="4846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555555"/>
                </a:solidFill>
              </a:rPr>
              <a:t>Key inflection: 2015–16 Golden State Warriors era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5486400" y="960120"/>
            <a:ext cx="6309360" cy="5120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666666"/>
                </a:solidFill>
              </a:rPr>
              <a:t>FIGURE 1</a:t>
            </a:r>
            <a:endParaRPr lang="en-US" sz="900" dirty="0"/>
          </a:p>
          <a:p>
            <a:pPr marL="0" indent="0" algn="ctr">
              <a:buNone/>
            </a:pPr>
            <a:endParaRPr lang="en-US" sz="900" dirty="0"/>
          </a:p>
          <a:p>
            <a:pPr marL="0" indent="0" algn="ctr">
              <a:buNone/>
            </a:pPr>
            <a:r>
              <a:rPr lang="en-US" sz="900" dirty="0">
                <a:solidFill>
                  <a:srgbClr val="666666"/>
                </a:solidFill>
              </a:rPr>
              <a:t>Open app → Tab '📈 Three-Point Revolution'</a:t>
            </a:r>
            <a:endParaRPr lang="en-US" sz="900" dirty="0"/>
          </a:p>
          <a:p>
            <a:pPr marL="0" indent="0" algn="ctr">
              <a:buNone/>
            </a:pPr>
            <a:r>
              <a:rPr lang="en-US" sz="900" dirty="0">
                <a:solidFill>
                  <a:srgbClr val="666666"/>
                </a:solidFill>
              </a:rPr>
              <a:t>Set slider to 1979–2024</a:t>
            </a:r>
            <a:endParaRPr lang="en-US" sz="900" dirty="0"/>
          </a:p>
          <a:p>
            <a:pPr marL="0" indent="0" algn="ctr">
              <a:buNone/>
            </a:pPr>
            <a:r>
              <a:rPr lang="en-US" sz="900" dirty="0">
                <a:solidFill>
                  <a:srgbClr val="666666"/>
                </a:solidFill>
              </a:rPr>
              <a:t>Take screenshot of the area chart (3PA/game)</a:t>
            </a:r>
            <a:endParaRPr lang="en-US" sz="900" dirty="0"/>
          </a:p>
        </p:txBody>
      </p:sp>
      <p:pic>
        <p:nvPicPr>
          <p:cNvPr id="23" name="Resim 22">
            <a:extLst>
              <a:ext uri="{FF2B5EF4-FFF2-40B4-BE49-F238E27FC236}">
                <a16:creationId xmlns:a16="http://schemas.microsoft.com/office/drawing/2014/main" id="{B36801AA-5597-4501-97BA-0DC43AA84F1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493846" y="1680676"/>
            <a:ext cx="7573108" cy="3450928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502920"/>
          </a:xfrm>
          <a:prstGeom prst="rect">
            <a:avLst/>
          </a:prstGeom>
          <a:solidFill>
            <a:srgbClr val="1D428A"/>
          </a:solidFill>
          <a:ln/>
        </p:spPr>
      </p:sp>
      <p:sp>
        <p:nvSpPr>
          <p:cNvPr id="3" name="Text 1"/>
          <p:cNvSpPr/>
          <p:nvPr/>
        </p:nvSpPr>
        <p:spPr>
          <a:xfrm>
            <a:off x="228600" y="45720"/>
            <a:ext cx="114300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FFFFF"/>
                </a:solidFill>
              </a:rPr>
              <a:t>RQ1 — Scoring &amp; Pace Over Time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10972800" y="6400800"/>
            <a:ext cx="457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CCCCCC"/>
                </a:solidFill>
              </a:rPr>
              <a:t>5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365760" y="731520"/>
            <a:ext cx="11430000" cy="4937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666666"/>
                </a:solidFill>
              </a:rPr>
              <a:t>FIGURE 1b</a:t>
            </a:r>
            <a:endParaRPr lang="en-US" sz="900" dirty="0"/>
          </a:p>
          <a:p>
            <a:pPr marL="0" indent="0" algn="ctr">
              <a:buNone/>
            </a:pPr>
            <a:endParaRPr lang="en-US" sz="900" dirty="0"/>
          </a:p>
          <a:p>
            <a:pPr marL="0" indent="0" algn="ctr">
              <a:buNone/>
            </a:pPr>
            <a:r>
              <a:rPr lang="en-US" sz="900" dirty="0">
                <a:solidFill>
                  <a:srgbClr val="666666"/>
                </a:solidFill>
              </a:rPr>
              <a:t>Open app → Tab '📈 Three-Point Revolution'</a:t>
            </a:r>
            <a:endParaRPr lang="en-US" sz="900" dirty="0"/>
          </a:p>
          <a:p>
            <a:pPr marL="0" indent="0" algn="ctr">
              <a:buNone/>
            </a:pPr>
            <a:r>
              <a:rPr lang="en-US" sz="900" dirty="0">
                <a:solidFill>
                  <a:srgbClr val="666666"/>
                </a:solidFill>
              </a:rPr>
              <a:t>Scroll down to the second chart: 'Scoring Average &amp; Pace Over Time'</a:t>
            </a:r>
            <a:endParaRPr lang="en-US" sz="900" dirty="0"/>
          </a:p>
          <a:p>
            <a:pPr marL="0" indent="0" algn="ctr">
              <a:buNone/>
            </a:pPr>
            <a:r>
              <a:rPr lang="en-US" sz="900" dirty="0">
                <a:solidFill>
                  <a:srgbClr val="666666"/>
                </a:solidFill>
              </a:rPr>
              <a:t>Take screenshot of the dual-axis line chart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274320" y="5852160"/>
            <a:ext cx="116128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i="1" dirty="0">
                <a:solidFill>
                  <a:srgbClr val="555555"/>
                </a:solidFill>
              </a:rPr>
              <a:t>Team scoring peaked at ~113 PPG in 2024. Pace declined from the 1960s until ~2014, then rebounded with the modern up-tempo style.</a:t>
            </a:r>
            <a:endParaRPr lang="en-US" sz="1100" dirty="0"/>
          </a:p>
        </p:txBody>
      </p:sp>
      <p:pic>
        <p:nvPicPr>
          <p:cNvPr id="9" name="Resim 8">
            <a:extLst>
              <a:ext uri="{FF2B5EF4-FFF2-40B4-BE49-F238E27FC236}">
                <a16:creationId xmlns:a16="http://schemas.microsoft.com/office/drawing/2014/main" id="{D6C0C595-B897-475F-9865-FAA9650F7A8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7393" y="1283264"/>
            <a:ext cx="11897214" cy="4291471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502920"/>
          </a:xfrm>
          <a:prstGeom prst="rect">
            <a:avLst/>
          </a:prstGeom>
          <a:solidFill>
            <a:srgbClr val="1D428A"/>
          </a:solidFill>
          <a:ln/>
        </p:spPr>
      </p:sp>
      <p:sp>
        <p:nvSpPr>
          <p:cNvPr id="3" name="Text 1"/>
          <p:cNvSpPr/>
          <p:nvPr/>
        </p:nvSpPr>
        <p:spPr>
          <a:xfrm>
            <a:off x="228600" y="45720"/>
            <a:ext cx="114300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FFFFF"/>
                </a:solidFill>
              </a:rPr>
              <a:t>RQ2 — Physical Attributes vs Performance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10972800" y="6400800"/>
            <a:ext cx="457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CCCCCC"/>
                </a:solidFill>
              </a:rPr>
              <a:t>6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274320" y="548640"/>
            <a:ext cx="116128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555555"/>
                </a:solidFill>
              </a:rPr>
              <a:t>Does height or weight predict on-court success?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274320" y="960120"/>
            <a:ext cx="5029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D428A"/>
                </a:solidFill>
              </a:rPr>
              <a:t>Key Findings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274320" y="1371600"/>
            <a:ext cx="5029200" cy="4846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Bef>
                <a:spcPts val="400"/>
              </a:spcBef>
              <a:buSzPct val="100000"/>
              <a:buChar char="•"/>
            </a:pPr>
            <a:r>
              <a:rPr lang="en-US" sz="1200" dirty="0">
                <a:solidFill>
                  <a:srgbClr val="111111"/>
                </a:solidFill>
              </a:rPr>
              <a:t>12,844 player-seasons (1996–2023)</a:t>
            </a:r>
            <a:endParaRPr lang="en-US" sz="1200" dirty="0"/>
          </a:p>
          <a:p>
            <a:pPr marL="342900" indent="-342900">
              <a:spcBef>
                <a:spcPts val="400"/>
              </a:spcBef>
              <a:buSzPct val="100000"/>
              <a:buChar char="•"/>
            </a:pPr>
            <a:r>
              <a:rPr lang="en-US" sz="1200" dirty="0">
                <a:solidFill>
                  <a:srgbClr val="111111"/>
                </a:solidFill>
              </a:rPr>
              <a:t>82 countries represented</a:t>
            </a:r>
            <a:endParaRPr lang="en-US" sz="1200" dirty="0"/>
          </a:p>
          <a:p>
            <a:pPr marL="342900" indent="-342900">
              <a:spcBef>
                <a:spcPts val="400"/>
              </a:spcBef>
              <a:buSzPct val="100000"/>
              <a:buChar char="•"/>
            </a:pPr>
            <a:r>
              <a:rPr lang="en-US" sz="1200" dirty="0">
                <a:solidFill>
                  <a:srgbClr val="111111"/>
                </a:solidFill>
              </a:rPr>
              <a:t>Height vs PPG: weak negative</a:t>
            </a:r>
            <a:endParaRPr lang="en-US" sz="1200" dirty="0"/>
          </a:p>
          <a:p>
            <a:pPr marL="342900" indent="-342900">
              <a:spcBef>
                <a:spcPts val="400"/>
              </a:spcBef>
              <a:buSzPct val="100000"/>
              <a:buChar char="•"/>
            </a:pPr>
            <a:r>
              <a:rPr lang="en-US" sz="1200" dirty="0">
                <a:solidFill>
                  <a:srgbClr val="111111"/>
                </a:solidFill>
              </a:rPr>
              <a:t>  correlation (big men contribute</a:t>
            </a:r>
            <a:endParaRPr lang="en-US" sz="1200" dirty="0"/>
          </a:p>
          <a:p>
            <a:pPr marL="342900" indent="-342900">
              <a:spcBef>
                <a:spcPts val="400"/>
              </a:spcBef>
              <a:buSzPct val="100000"/>
              <a:buChar char="•"/>
            </a:pPr>
            <a:r>
              <a:rPr lang="en-US" sz="1200" dirty="0">
                <a:solidFill>
                  <a:srgbClr val="111111"/>
                </a:solidFill>
              </a:rPr>
              <a:t>  via rebounds &amp; defense)</a:t>
            </a:r>
            <a:endParaRPr lang="en-US" sz="1200" dirty="0"/>
          </a:p>
          <a:p>
            <a:pPr marL="342900" indent="-342900">
              <a:spcBef>
                <a:spcPts val="400"/>
              </a:spcBef>
              <a:buSzPct val="100000"/>
              <a:buChar char="•"/>
            </a:pPr>
            <a:r>
              <a:rPr lang="en-US" sz="1200" dirty="0">
                <a:solidFill>
                  <a:srgbClr val="111111"/>
                </a:solidFill>
              </a:rPr>
              <a:t>Height vs Win Shares: near-neutral</a:t>
            </a:r>
            <a:endParaRPr lang="en-US" sz="1200" dirty="0"/>
          </a:p>
          <a:p>
            <a:pPr marL="342900" indent="-342900">
              <a:spcBef>
                <a:spcPts val="400"/>
              </a:spcBef>
              <a:buSzPct val="100000"/>
              <a:buChar char="•"/>
            </a:pPr>
            <a:r>
              <a:rPr lang="en-US" sz="1200" dirty="0">
                <a:solidFill>
                  <a:srgbClr val="111111"/>
                </a:solidFill>
              </a:rPr>
              <a:t>Weight: minimal correlation with</a:t>
            </a:r>
            <a:endParaRPr lang="en-US" sz="1200" dirty="0"/>
          </a:p>
          <a:p>
            <a:pPr marL="342900" indent="-342900">
              <a:spcBef>
                <a:spcPts val="400"/>
              </a:spcBef>
              <a:buSzPct val="100000"/>
              <a:buChar char="•"/>
            </a:pPr>
            <a:r>
              <a:rPr lang="en-US" sz="1200" dirty="0">
                <a:solidFill>
                  <a:srgbClr val="111111"/>
                </a:solidFill>
              </a:rPr>
              <a:t>  any offensive metric</a:t>
            </a:r>
            <a:endParaRPr lang="en-US" sz="1200" dirty="0"/>
          </a:p>
          <a:p>
            <a:pPr marL="342900" indent="-342900">
              <a:spcBef>
                <a:spcPts val="400"/>
              </a:spcBef>
              <a:buSzPct val="100000"/>
              <a:buChar char="•"/>
            </a:pPr>
            <a:r>
              <a:rPr lang="en-US" sz="1200" dirty="0">
                <a:solidFill>
                  <a:srgbClr val="111111"/>
                </a:solidFill>
              </a:rPr>
              <a:t>OLS trendline via statsmodels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5669280" y="960120"/>
            <a:ext cx="6126480" cy="5120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666666"/>
                </a:solidFill>
              </a:rPr>
              <a:t>FIGURE 2</a:t>
            </a:r>
            <a:endParaRPr lang="en-US" sz="900" dirty="0"/>
          </a:p>
          <a:p>
            <a:pPr marL="0" indent="0" algn="ctr">
              <a:buNone/>
            </a:pPr>
            <a:endParaRPr lang="en-US" sz="900" dirty="0"/>
          </a:p>
          <a:p>
            <a:pPr marL="0" indent="0" algn="ctr">
              <a:buNone/>
            </a:pPr>
            <a:r>
              <a:rPr lang="en-US" sz="900" dirty="0">
                <a:solidFill>
                  <a:srgbClr val="666666"/>
                </a:solidFill>
              </a:rPr>
              <a:t>Open app → Tab '💪 Physical vs Performance'</a:t>
            </a:r>
            <a:endParaRPr lang="en-US" sz="900" dirty="0"/>
          </a:p>
          <a:p>
            <a:pPr marL="0" indent="0" algn="ctr">
              <a:buNone/>
            </a:pPr>
            <a:r>
              <a:rPr lang="en-US" sz="900" dirty="0">
                <a:solidFill>
                  <a:srgbClr val="666666"/>
                </a:solidFill>
              </a:rPr>
              <a:t>Set X: Height (cm), Y: Points per game</a:t>
            </a:r>
            <a:endParaRPr lang="en-US" sz="900" dirty="0"/>
          </a:p>
          <a:p>
            <a:pPr marL="0" indent="0" algn="ctr">
              <a:buNone/>
            </a:pPr>
            <a:r>
              <a:rPr lang="en-US" sz="900" dirty="0">
                <a:solidFill>
                  <a:srgbClr val="666666"/>
                </a:solidFill>
              </a:rPr>
              <a:t>Take screenshot showing scatter plot</a:t>
            </a:r>
            <a:endParaRPr lang="en-US" sz="900" dirty="0"/>
          </a:p>
          <a:p>
            <a:pPr marL="0" indent="0" algn="ctr">
              <a:buNone/>
            </a:pPr>
            <a:r>
              <a:rPr lang="en-US" sz="900" dirty="0">
                <a:solidFill>
                  <a:srgbClr val="666666"/>
                </a:solidFill>
              </a:rPr>
              <a:t>with the red OLS trendline visible</a:t>
            </a:r>
            <a:endParaRPr lang="en-US" sz="900" dirty="0"/>
          </a:p>
        </p:txBody>
      </p:sp>
      <p:pic>
        <p:nvPicPr>
          <p:cNvPr id="11" name="Resim 10">
            <a:extLst>
              <a:ext uri="{FF2B5EF4-FFF2-40B4-BE49-F238E27FC236}">
                <a16:creationId xmlns:a16="http://schemas.microsoft.com/office/drawing/2014/main" id="{5F4CF9CB-AED8-43AD-B256-FA544EE40C8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041282" y="960120"/>
            <a:ext cx="8947748" cy="512064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502920"/>
          </a:xfrm>
          <a:prstGeom prst="rect">
            <a:avLst/>
          </a:prstGeom>
          <a:solidFill>
            <a:srgbClr val="1D428A"/>
          </a:solidFill>
          <a:ln/>
        </p:spPr>
      </p:sp>
      <p:sp>
        <p:nvSpPr>
          <p:cNvPr id="3" name="Text 1"/>
          <p:cNvSpPr/>
          <p:nvPr/>
        </p:nvSpPr>
        <p:spPr>
          <a:xfrm>
            <a:off x="228600" y="45720"/>
            <a:ext cx="114300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FFFFF"/>
                </a:solidFill>
              </a:rPr>
              <a:t>RQ3 — Career Arc &amp; Peak Age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10972800" y="6400800"/>
            <a:ext cx="457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CCCCCC"/>
                </a:solidFill>
              </a:rPr>
              <a:t>7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274320" y="548640"/>
            <a:ext cx="116128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555555"/>
                </a:solidFill>
              </a:rPr>
              <a:t>When do NBA players peak?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274320" y="960120"/>
            <a:ext cx="5029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D428A"/>
                </a:solidFill>
              </a:rPr>
              <a:t>Key Findings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258689" y="1363785"/>
            <a:ext cx="3484880" cy="1005840"/>
          </a:xfrm>
          <a:prstGeom prst="rect">
            <a:avLst/>
          </a:prstGeom>
          <a:solidFill>
            <a:srgbClr val="EEF3FB"/>
          </a:solidFill>
          <a:ln w="19050">
            <a:solidFill>
              <a:srgbClr val="1D428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57200" y="1417320"/>
            <a:ext cx="4663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D428A"/>
                </a:solidFill>
              </a:rPr>
              <a:t>Peak scoring age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457200" y="1737360"/>
            <a:ext cx="2340708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C8102E"/>
                </a:solidFill>
              </a:rPr>
              <a:t>26 – 27</a:t>
            </a:r>
            <a:endParaRPr lang="en-US" sz="3000" dirty="0"/>
          </a:p>
        </p:txBody>
      </p:sp>
      <p:sp>
        <p:nvSpPr>
          <p:cNvPr id="10" name="Text 8"/>
          <p:cNvSpPr/>
          <p:nvPr/>
        </p:nvSpPr>
        <p:spPr>
          <a:xfrm>
            <a:off x="274320" y="2514600"/>
            <a:ext cx="5029200" cy="3657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Bef>
                <a:spcPts val="400"/>
              </a:spcBef>
              <a:buSzPct val="100000"/>
              <a:buChar char="•"/>
            </a:pPr>
            <a:r>
              <a:rPr lang="en-US" sz="1200" dirty="0">
                <a:solidFill>
                  <a:srgbClr val="111111"/>
                </a:solidFill>
              </a:rPr>
              <a:t>Data: 1947–2024, min 20 games/season</a:t>
            </a:r>
            <a:endParaRPr lang="en-US" sz="1200" dirty="0"/>
          </a:p>
          <a:p>
            <a:pPr marL="342900" indent="-342900">
              <a:spcBef>
                <a:spcPts val="400"/>
              </a:spcBef>
              <a:buSzPct val="100000"/>
              <a:buChar char="•"/>
            </a:pPr>
            <a:r>
              <a:rPr lang="en-US" sz="1200" dirty="0">
                <a:solidFill>
                  <a:srgbClr val="111111"/>
                </a:solidFill>
              </a:rPr>
              <a:t>Assists peak: age 24–25</a:t>
            </a:r>
            <a:endParaRPr lang="en-US" sz="1200" dirty="0"/>
          </a:p>
          <a:p>
            <a:pPr marL="342900" indent="-342900">
              <a:spcBef>
                <a:spcPts val="400"/>
              </a:spcBef>
              <a:buSzPct val="100000"/>
              <a:buChar char="•"/>
            </a:pPr>
            <a:r>
              <a:rPr lang="en-US" sz="1200" dirty="0">
                <a:solidFill>
                  <a:srgbClr val="111111"/>
                </a:solidFill>
              </a:rPr>
              <a:t>Rebounds peak: age 25–26</a:t>
            </a:r>
            <a:endParaRPr lang="en-US" sz="1200" dirty="0"/>
          </a:p>
          <a:p>
            <a:pPr marL="342900" indent="-342900">
              <a:spcBef>
                <a:spcPts val="400"/>
              </a:spcBef>
              <a:buSzPct val="100000"/>
              <a:buChar char="•"/>
            </a:pPr>
            <a:r>
              <a:rPr lang="en-US" sz="1200" dirty="0">
                <a:solidFill>
                  <a:srgbClr val="111111"/>
                </a:solidFill>
              </a:rPr>
              <a:t>After age 35: survivorship bias</a:t>
            </a:r>
            <a:endParaRPr lang="en-US" sz="1200" dirty="0"/>
          </a:p>
          <a:p>
            <a:pPr marL="342900" indent="-342900">
              <a:spcBef>
                <a:spcPts val="400"/>
              </a:spcBef>
              <a:buSzPct val="100000"/>
              <a:buChar char="•"/>
            </a:pPr>
            <a:r>
              <a:rPr lang="en-US" sz="1200" dirty="0">
                <a:solidFill>
                  <a:srgbClr val="111111"/>
                </a:solidFill>
              </a:rPr>
              <a:t>  (only elite players remain)</a:t>
            </a:r>
            <a:endParaRPr lang="en-US" sz="1200" dirty="0"/>
          </a:p>
          <a:p>
            <a:pPr marL="342900" indent="-342900">
              <a:spcBef>
                <a:spcPts val="400"/>
              </a:spcBef>
              <a:buSzPct val="100000"/>
              <a:buChar char="•"/>
            </a:pPr>
            <a:r>
              <a:rPr lang="en-US" sz="1200" dirty="0">
                <a:solidFill>
                  <a:srgbClr val="111111"/>
                </a:solidFill>
              </a:rPr>
              <a:t>Sample drops sharply after age 32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5669280" y="960120"/>
            <a:ext cx="6126480" cy="5120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666666"/>
                </a:solidFill>
              </a:rPr>
              <a:t>FIGURE 3</a:t>
            </a:r>
            <a:endParaRPr lang="en-US" sz="900" dirty="0"/>
          </a:p>
          <a:p>
            <a:pPr marL="0" indent="0" algn="ctr">
              <a:buNone/>
            </a:pPr>
            <a:endParaRPr lang="en-US" sz="900" dirty="0"/>
          </a:p>
          <a:p>
            <a:pPr marL="0" indent="0" algn="ctr">
              <a:buNone/>
            </a:pPr>
            <a:r>
              <a:rPr lang="en-US" sz="900" dirty="0">
                <a:solidFill>
                  <a:srgbClr val="666666"/>
                </a:solidFill>
              </a:rPr>
              <a:t>Open app → Tab '📊 Career Arc &amp; Peak Age'</a:t>
            </a:r>
            <a:endParaRPr lang="en-US" sz="900" dirty="0"/>
          </a:p>
          <a:p>
            <a:pPr marL="0" indent="0" algn="ctr">
              <a:buNone/>
            </a:pPr>
            <a:r>
              <a:rPr lang="en-US" sz="900" dirty="0">
                <a:solidFill>
                  <a:srgbClr val="666666"/>
                </a:solidFill>
              </a:rPr>
              <a:t>Select all 3 stats: Points, Assists, Rebounds</a:t>
            </a:r>
            <a:endParaRPr lang="en-US" sz="900" dirty="0"/>
          </a:p>
          <a:p>
            <a:pPr marL="0" indent="0" algn="ctr">
              <a:buNone/>
            </a:pPr>
            <a:r>
              <a:rPr lang="en-US" sz="900" dirty="0">
                <a:solidFill>
                  <a:srgbClr val="666666"/>
                </a:solidFill>
              </a:rPr>
              <a:t>Take screenshot of the multi-line chart +</a:t>
            </a:r>
            <a:endParaRPr lang="en-US" sz="900" dirty="0"/>
          </a:p>
          <a:p>
            <a:pPr marL="0" indent="0" algn="ctr">
              <a:buNone/>
            </a:pPr>
            <a:r>
              <a:rPr lang="en-US" sz="900" dirty="0">
                <a:solidFill>
                  <a:srgbClr val="666666"/>
                </a:solidFill>
              </a:rPr>
              <a:t>the blue info box showing peak age</a:t>
            </a:r>
            <a:endParaRPr lang="en-US" sz="900" dirty="0"/>
          </a:p>
        </p:txBody>
      </p:sp>
      <p:pic>
        <p:nvPicPr>
          <p:cNvPr id="14" name="Resim 13">
            <a:extLst>
              <a:ext uri="{FF2B5EF4-FFF2-40B4-BE49-F238E27FC236}">
                <a16:creationId xmlns:a16="http://schemas.microsoft.com/office/drawing/2014/main" id="{53D6037A-B62E-4C66-8EBC-324EF1E1C70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02805" y="960120"/>
            <a:ext cx="8200843" cy="4620065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502920"/>
          </a:xfrm>
          <a:prstGeom prst="rect">
            <a:avLst/>
          </a:prstGeom>
          <a:solidFill>
            <a:srgbClr val="1D428A"/>
          </a:solidFill>
          <a:ln/>
        </p:spPr>
      </p:sp>
      <p:sp>
        <p:nvSpPr>
          <p:cNvPr id="3" name="Text 1"/>
          <p:cNvSpPr/>
          <p:nvPr/>
        </p:nvSpPr>
        <p:spPr>
          <a:xfrm>
            <a:off x="228600" y="45720"/>
            <a:ext cx="114300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FFFFF"/>
                </a:solidFill>
              </a:rPr>
              <a:t>RQ4 — Geography: Where Do NBA Players Come From?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10972800" y="6400800"/>
            <a:ext cx="457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CCCCCC"/>
                </a:solidFill>
              </a:rPr>
              <a:t>8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274320" y="548640"/>
            <a:ext cx="116128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555555"/>
                </a:solidFill>
              </a:rPr>
              <a:t>Country-level distribution (1996–2023)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365760" y="960120"/>
            <a:ext cx="11430000" cy="3931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666666"/>
                </a:solidFill>
              </a:rPr>
              <a:t>FIGURE 4</a:t>
            </a:r>
            <a:endParaRPr lang="en-US" sz="900" dirty="0"/>
          </a:p>
          <a:p>
            <a:pPr marL="0" indent="0" algn="ctr">
              <a:buNone/>
            </a:pPr>
            <a:endParaRPr lang="en-US" sz="900" dirty="0"/>
          </a:p>
          <a:p>
            <a:pPr marL="0" indent="0" algn="ctr">
              <a:buNone/>
            </a:pPr>
            <a:r>
              <a:rPr lang="en-US" sz="900" dirty="0">
                <a:solidFill>
                  <a:srgbClr val="666666"/>
                </a:solidFill>
              </a:rPr>
              <a:t>Open app → Tab '🌍 Geography'</a:t>
            </a:r>
            <a:endParaRPr lang="en-US" sz="900" dirty="0"/>
          </a:p>
          <a:p>
            <a:pPr marL="0" indent="0" algn="ctr">
              <a:buNone/>
            </a:pPr>
            <a:r>
              <a:rPr lang="en-US" sz="900" dirty="0">
                <a:solidFill>
                  <a:srgbClr val="666666"/>
                </a:solidFill>
              </a:rPr>
              <a:t>The world map appears at the top — set color to '# of Players'</a:t>
            </a:r>
            <a:endParaRPr lang="en-US" sz="900" dirty="0"/>
          </a:p>
          <a:p>
            <a:pPr marL="0" indent="0" algn="ctr">
              <a:buNone/>
            </a:pPr>
            <a:r>
              <a:rPr lang="en-US" sz="900" dirty="0">
                <a:solidFill>
                  <a:srgbClr val="666666"/>
                </a:solidFill>
              </a:rPr>
              <a:t>Take screenshot when map is fully rendered (may take 1–2 seconds to load)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274320" y="5120640"/>
            <a:ext cx="1828800" cy="1005840"/>
          </a:xfrm>
          <a:prstGeom prst="rect">
            <a:avLst/>
          </a:prstGeom>
          <a:solidFill>
            <a:srgbClr val="1D428A"/>
          </a:solidFill>
          <a:ln w="6350">
            <a:solidFill>
              <a:srgbClr val="CCCCCC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274320" y="5166360"/>
            <a:ext cx="18288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</a:rPr>
              <a:t>10,721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274320" y="5669280"/>
            <a:ext cx="1828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CCDDFF"/>
                </a:solidFill>
              </a:rPr>
              <a:t>🇺🇸 USA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2258568" y="5120640"/>
            <a:ext cx="1828800" cy="1005840"/>
          </a:xfrm>
          <a:prstGeom prst="rect">
            <a:avLst/>
          </a:prstGeom>
          <a:solidFill>
            <a:srgbClr val="EEF3FB"/>
          </a:solidFill>
          <a:ln w="6350">
            <a:solidFill>
              <a:srgbClr val="CCCCCC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2258568" y="5166360"/>
            <a:ext cx="18288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D428A"/>
                </a:solidFill>
              </a:rPr>
              <a:t>205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2258568" y="5669280"/>
            <a:ext cx="1828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555555"/>
                </a:solidFill>
              </a:rPr>
              <a:t>🇨🇦 Canada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4242816" y="5120640"/>
            <a:ext cx="1828800" cy="1005840"/>
          </a:xfrm>
          <a:prstGeom prst="rect">
            <a:avLst/>
          </a:prstGeom>
          <a:solidFill>
            <a:srgbClr val="EEF3FB"/>
          </a:solidFill>
          <a:ln w="6350">
            <a:solidFill>
              <a:srgbClr val="CCCCCC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242816" y="5166360"/>
            <a:ext cx="18288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D428A"/>
                </a:solidFill>
              </a:rPr>
              <a:t>190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4242816" y="5669280"/>
            <a:ext cx="1828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555555"/>
                </a:solidFill>
              </a:rPr>
              <a:t>🇫🇷 France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6227064" y="5120640"/>
            <a:ext cx="1828800" cy="1005840"/>
          </a:xfrm>
          <a:prstGeom prst="rect">
            <a:avLst/>
          </a:prstGeom>
          <a:solidFill>
            <a:srgbClr val="EEF3FB"/>
          </a:solidFill>
          <a:ln w="6350">
            <a:solidFill>
              <a:srgbClr val="CCCCCC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227064" y="5166360"/>
            <a:ext cx="18288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D428A"/>
                </a:solidFill>
              </a:rPr>
              <a:t>100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6227064" y="5669280"/>
            <a:ext cx="1828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555555"/>
                </a:solidFill>
              </a:rPr>
              <a:t>🇦🇺 Australia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8211312" y="5120640"/>
            <a:ext cx="1828800" cy="1005840"/>
          </a:xfrm>
          <a:prstGeom prst="rect">
            <a:avLst/>
          </a:prstGeom>
          <a:solidFill>
            <a:srgbClr val="EEF3FB"/>
          </a:solidFill>
          <a:ln w="6350">
            <a:solidFill>
              <a:srgbClr val="CCCCCC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8211312" y="5166360"/>
            <a:ext cx="18288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D428A"/>
                </a:solidFill>
              </a:rPr>
              <a:t>93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8211312" y="5669280"/>
            <a:ext cx="1828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555555"/>
                </a:solidFill>
              </a:rPr>
              <a:t>🇪🇸 Spain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10195560" y="5120640"/>
            <a:ext cx="1828800" cy="1005840"/>
          </a:xfrm>
          <a:prstGeom prst="rect">
            <a:avLst/>
          </a:prstGeom>
          <a:solidFill>
            <a:srgbClr val="EEF3FB"/>
          </a:solidFill>
          <a:ln w="6350">
            <a:solidFill>
              <a:srgbClr val="CCCCCC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10195560" y="5166360"/>
            <a:ext cx="18288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D428A"/>
                </a:solidFill>
              </a:rPr>
              <a:t>82 countries</a:t>
            </a:r>
            <a:endParaRPr lang="en-US" sz="1600" dirty="0"/>
          </a:p>
        </p:txBody>
      </p:sp>
      <p:sp>
        <p:nvSpPr>
          <p:cNvPr id="25" name="Text 23"/>
          <p:cNvSpPr/>
          <p:nvPr/>
        </p:nvSpPr>
        <p:spPr>
          <a:xfrm>
            <a:off x="10195560" y="5669280"/>
            <a:ext cx="1828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555555"/>
                </a:solidFill>
              </a:rPr>
              <a:t>🌐 Total</a:t>
            </a:r>
            <a:endParaRPr lang="en-US" sz="1000" dirty="0"/>
          </a:p>
        </p:txBody>
      </p:sp>
      <p:pic>
        <p:nvPicPr>
          <p:cNvPr id="27" name="Resim 26">
            <a:extLst>
              <a:ext uri="{FF2B5EF4-FFF2-40B4-BE49-F238E27FC236}">
                <a16:creationId xmlns:a16="http://schemas.microsoft.com/office/drawing/2014/main" id="{1D442810-E70F-42F4-9629-F527F90AD3E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4320" y="845820"/>
            <a:ext cx="11061757" cy="4254991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502920"/>
          </a:xfrm>
          <a:prstGeom prst="rect">
            <a:avLst/>
          </a:prstGeom>
          <a:solidFill>
            <a:srgbClr val="1D428A"/>
          </a:solidFill>
          <a:ln/>
        </p:spPr>
      </p:sp>
      <p:sp>
        <p:nvSpPr>
          <p:cNvPr id="3" name="Text 1"/>
          <p:cNvSpPr/>
          <p:nvPr/>
        </p:nvSpPr>
        <p:spPr>
          <a:xfrm>
            <a:off x="228600" y="45720"/>
            <a:ext cx="114300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FFFFF"/>
                </a:solidFill>
              </a:rPr>
              <a:t>RQ4 — Geography: U.S. State Breakdown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10972800" y="6400800"/>
            <a:ext cx="457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CCCCCC"/>
                </a:solidFill>
              </a:rPr>
              <a:t>9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274320" y="548640"/>
            <a:ext cx="116128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555555"/>
                </a:solidFill>
              </a:rPr>
              <a:t>All-time NBA player birthplaces by state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365760" y="960120"/>
            <a:ext cx="6949440" cy="5120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666666"/>
                </a:solidFill>
              </a:rPr>
              <a:t>FIGURE 5</a:t>
            </a:r>
            <a:endParaRPr lang="en-US" sz="900" dirty="0"/>
          </a:p>
          <a:p>
            <a:pPr marL="0" indent="0" algn="ctr">
              <a:buNone/>
            </a:pPr>
            <a:endParaRPr lang="en-US" sz="900" dirty="0"/>
          </a:p>
          <a:p>
            <a:pPr marL="0" indent="0" algn="ctr">
              <a:buNone/>
            </a:pPr>
            <a:r>
              <a:rPr lang="en-US" sz="900" dirty="0">
                <a:solidFill>
                  <a:srgbClr val="666666"/>
                </a:solidFill>
              </a:rPr>
              <a:t>Open app → Tab '🌍 Geography'</a:t>
            </a:r>
            <a:endParaRPr lang="en-US" sz="900" dirty="0"/>
          </a:p>
          <a:p>
            <a:pPr marL="0" indent="0" algn="ctr">
              <a:buNone/>
            </a:pPr>
            <a:r>
              <a:rPr lang="en-US" sz="900" dirty="0">
                <a:solidFill>
                  <a:srgbClr val="666666"/>
                </a:solidFill>
              </a:rPr>
              <a:t>Scroll down past the bar chart</a:t>
            </a:r>
            <a:endParaRPr lang="en-US" sz="900" dirty="0"/>
          </a:p>
          <a:p>
            <a:pPr marL="0" indent="0" algn="ctr">
              <a:buNone/>
            </a:pPr>
            <a:r>
              <a:rPr lang="en-US" sz="900" dirty="0">
                <a:solidFill>
                  <a:srgbClr val="666666"/>
                </a:solidFill>
              </a:rPr>
              <a:t>to the U.S. state choropleth map</a:t>
            </a:r>
            <a:endParaRPr lang="en-US" sz="900" dirty="0"/>
          </a:p>
          <a:p>
            <a:pPr marL="0" indent="0" algn="ctr">
              <a:buNone/>
            </a:pPr>
            <a:r>
              <a:rPr lang="en-US" sz="900" dirty="0">
                <a:solidFill>
                  <a:srgbClr val="666666"/>
                </a:solidFill>
              </a:rPr>
              <a:t>Take a screenshot of the full USA map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282135" y="870291"/>
            <a:ext cx="130673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D428A"/>
                </a:solidFill>
              </a:rPr>
              <a:t>Key Findings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282135" y="1784277"/>
            <a:ext cx="4837723" cy="627467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Bef>
                <a:spcPts val="400"/>
              </a:spcBef>
              <a:buSzPct val="100000"/>
              <a:buChar char="•"/>
            </a:pPr>
            <a:r>
              <a:rPr lang="en-US" sz="1200" dirty="0">
                <a:solidFill>
                  <a:srgbClr val="111111"/>
                </a:solidFill>
              </a:rPr>
              <a:t>South highly represented:</a:t>
            </a:r>
            <a:r>
              <a:rPr lang="tr-TR" sz="1200" dirty="0">
                <a:solidFill>
                  <a:srgbClr val="111111"/>
                </a:solidFill>
              </a:rPr>
              <a:t> </a:t>
            </a:r>
            <a:r>
              <a:rPr lang="en-US" sz="1200" dirty="0">
                <a:solidFill>
                  <a:srgbClr val="111111"/>
                </a:solidFill>
              </a:rPr>
              <a:t>Georgia, N. Carolina,</a:t>
            </a:r>
            <a:r>
              <a:rPr lang="tr-TR" sz="1200" dirty="0"/>
              <a:t> </a:t>
            </a:r>
            <a:r>
              <a:rPr lang="en-US" sz="1200" dirty="0">
                <a:solidFill>
                  <a:srgbClr val="111111"/>
                </a:solidFill>
              </a:rPr>
              <a:t>Louisiana</a:t>
            </a:r>
            <a:endParaRPr lang="en-US" sz="1200" dirty="0"/>
          </a:p>
          <a:p>
            <a:pPr marL="342900" indent="-342900">
              <a:spcBef>
                <a:spcPts val="400"/>
              </a:spcBef>
              <a:buSzPct val="100000"/>
              <a:buChar char="•"/>
            </a:pPr>
            <a:r>
              <a:rPr lang="en-US" sz="1200" dirty="0">
                <a:solidFill>
                  <a:srgbClr val="111111"/>
                </a:solidFill>
              </a:rPr>
              <a:t>Western states: fewer</a:t>
            </a:r>
            <a:r>
              <a:rPr lang="tr-TR" sz="1200" dirty="0"/>
              <a:t> </a:t>
            </a:r>
            <a:r>
              <a:rPr lang="en-US" sz="1200" dirty="0">
                <a:solidFill>
                  <a:srgbClr val="111111"/>
                </a:solidFill>
              </a:rPr>
              <a:t>players (lower population)</a:t>
            </a:r>
            <a:endParaRPr lang="en-US" sz="1200" dirty="0"/>
          </a:p>
        </p:txBody>
      </p:sp>
      <p:pic>
        <p:nvPicPr>
          <p:cNvPr id="11" name="Resim 10">
            <a:extLst>
              <a:ext uri="{FF2B5EF4-FFF2-40B4-BE49-F238E27FC236}">
                <a16:creationId xmlns:a16="http://schemas.microsoft.com/office/drawing/2014/main" id="{5674DC71-FA52-47B8-83F2-E927433FB36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4319" y="2405870"/>
            <a:ext cx="11504581" cy="3444332"/>
          </a:xfrm>
          <a:prstGeom prst="rect">
            <a:avLst/>
          </a:prstGeom>
        </p:spPr>
      </p:pic>
      <p:sp>
        <p:nvSpPr>
          <p:cNvPr id="14" name="Text 7">
            <a:extLst>
              <a:ext uri="{FF2B5EF4-FFF2-40B4-BE49-F238E27FC236}">
                <a16:creationId xmlns:a16="http://schemas.microsoft.com/office/drawing/2014/main" id="{830DAC6D-1B07-425D-A922-15799C03E625}"/>
              </a:ext>
            </a:extLst>
          </p:cNvPr>
          <p:cNvSpPr/>
          <p:nvPr/>
        </p:nvSpPr>
        <p:spPr>
          <a:xfrm>
            <a:off x="274319" y="1192530"/>
            <a:ext cx="4302369" cy="56183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Bef>
                <a:spcPts val="400"/>
              </a:spcBef>
              <a:buSzPct val="100000"/>
              <a:buChar char="•"/>
            </a:pPr>
            <a:r>
              <a:rPr lang="en-US" sz="1200" dirty="0">
                <a:solidFill>
                  <a:srgbClr val="111111"/>
                </a:solidFill>
              </a:rPr>
              <a:t>Covers entire NBA history</a:t>
            </a:r>
            <a:r>
              <a:rPr lang="tr-TR" sz="1200" dirty="0"/>
              <a:t> </a:t>
            </a:r>
            <a:r>
              <a:rPr lang="en-US" sz="1200" dirty="0">
                <a:solidFill>
                  <a:srgbClr val="111111"/>
                </a:solidFill>
              </a:rPr>
              <a:t>(all-time player data)</a:t>
            </a:r>
            <a:endParaRPr lang="en-US" sz="1200" dirty="0"/>
          </a:p>
          <a:p>
            <a:pPr marL="342900" indent="-342900">
              <a:spcBef>
                <a:spcPts val="400"/>
              </a:spcBef>
              <a:buSzPct val="100000"/>
              <a:buChar char="•"/>
            </a:pPr>
            <a:r>
              <a:rPr lang="en-US" sz="1200" dirty="0">
                <a:solidFill>
                  <a:srgbClr val="111111"/>
                </a:solidFill>
              </a:rPr>
              <a:t>Top states: California,</a:t>
            </a:r>
            <a:r>
              <a:rPr lang="tr-TR" sz="1200" dirty="0"/>
              <a:t> </a:t>
            </a:r>
            <a:r>
              <a:rPr lang="en-US" sz="1200" dirty="0">
                <a:solidFill>
                  <a:srgbClr val="111111"/>
                </a:solidFill>
              </a:rPr>
              <a:t>New York, Texas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502920"/>
          </a:xfrm>
          <a:prstGeom prst="rect">
            <a:avLst/>
          </a:prstGeom>
          <a:solidFill>
            <a:srgbClr val="1D428A"/>
          </a:solidFill>
          <a:ln/>
        </p:spPr>
      </p:sp>
      <p:sp>
        <p:nvSpPr>
          <p:cNvPr id="3" name="Text 1"/>
          <p:cNvSpPr/>
          <p:nvPr/>
        </p:nvSpPr>
        <p:spPr>
          <a:xfrm>
            <a:off x="228600" y="45720"/>
            <a:ext cx="114300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FFFFF"/>
                </a:solidFill>
              </a:rPr>
              <a:t>RQ5 — Position Profiles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10972800" y="6400800"/>
            <a:ext cx="457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CCCCCC"/>
                </a:solidFill>
              </a:rPr>
              <a:t>10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274320" y="548640"/>
            <a:ext cx="116128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555555"/>
                </a:solidFill>
              </a:rPr>
              <a:t>How do PG, SG, SF, PF, and C differ statistically?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365760" y="960120"/>
            <a:ext cx="5486400" cy="3474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666666"/>
                </a:solidFill>
              </a:rPr>
              <a:t>FIGURE 6a</a:t>
            </a:r>
            <a:endParaRPr lang="en-US" sz="900" dirty="0"/>
          </a:p>
          <a:p>
            <a:pPr marL="0" indent="0" algn="ctr">
              <a:buNone/>
            </a:pPr>
            <a:endParaRPr lang="en-US" sz="900" dirty="0"/>
          </a:p>
          <a:p>
            <a:pPr marL="0" indent="0" algn="ctr">
              <a:buNone/>
            </a:pPr>
            <a:r>
              <a:rPr lang="en-US" sz="900" dirty="0">
                <a:solidFill>
                  <a:srgbClr val="666666"/>
                </a:solidFill>
              </a:rPr>
              <a:t>Open app → Tab '🏃 Position Profiles'</a:t>
            </a:r>
            <a:endParaRPr lang="en-US" sz="900" dirty="0"/>
          </a:p>
          <a:p>
            <a:pPr marL="0" indent="0" algn="ctr">
              <a:buNone/>
            </a:pPr>
            <a:r>
              <a:rPr lang="en-US" sz="900" dirty="0">
                <a:solidFill>
                  <a:srgbClr val="666666"/>
                </a:solidFill>
              </a:rPr>
              <a:t>All 5 positions selected, Era: All</a:t>
            </a:r>
            <a:endParaRPr lang="en-US" sz="900" dirty="0"/>
          </a:p>
          <a:p>
            <a:pPr marL="0" indent="0" algn="ctr">
              <a:buNone/>
            </a:pPr>
            <a:r>
              <a:rPr lang="en-US" sz="900" dirty="0">
                <a:solidFill>
                  <a:srgbClr val="666666"/>
                </a:solidFill>
              </a:rPr>
              <a:t>Take screenshot of the HEATMAP (top chart)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6309360" y="960120"/>
            <a:ext cx="5486400" cy="3474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666666"/>
                </a:solidFill>
              </a:rPr>
              <a:t>FIGURE 6b</a:t>
            </a:r>
            <a:endParaRPr lang="en-US" sz="900" dirty="0"/>
          </a:p>
          <a:p>
            <a:pPr marL="0" indent="0" algn="ctr">
              <a:buNone/>
            </a:pPr>
            <a:endParaRPr lang="en-US" sz="900" dirty="0"/>
          </a:p>
          <a:p>
            <a:pPr marL="0" indent="0" algn="ctr">
              <a:buNone/>
            </a:pPr>
            <a:r>
              <a:rPr lang="en-US" sz="900" dirty="0">
                <a:solidFill>
                  <a:srgbClr val="666666"/>
                </a:solidFill>
              </a:rPr>
              <a:t>Still in Tab '🏃 Position Profiles'</a:t>
            </a:r>
            <a:endParaRPr lang="en-US" sz="900" dirty="0"/>
          </a:p>
          <a:p>
            <a:pPr marL="0" indent="0" algn="ctr">
              <a:buNone/>
            </a:pPr>
            <a:r>
              <a:rPr lang="en-US" sz="900" dirty="0">
                <a:solidFill>
                  <a:srgbClr val="666666"/>
                </a:solidFill>
              </a:rPr>
              <a:t>Scroll down to the RADAR CHART</a:t>
            </a:r>
            <a:endParaRPr lang="en-US" sz="900" dirty="0"/>
          </a:p>
          <a:p>
            <a:pPr marL="0" indent="0" algn="ctr">
              <a:buNone/>
            </a:pPr>
            <a:r>
              <a:rPr lang="en-US" sz="900" dirty="0">
                <a:solidFill>
                  <a:srgbClr val="666666"/>
                </a:solidFill>
              </a:rPr>
              <a:t>Take screenshot of the radar chart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274320" y="4663440"/>
            <a:ext cx="2148840" cy="640080"/>
          </a:xfrm>
          <a:prstGeom prst="rect">
            <a:avLst/>
          </a:prstGeom>
          <a:solidFill>
            <a:srgbClr val="1D428A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274320" y="4681728"/>
            <a:ext cx="2148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PG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274320" y="4956048"/>
            <a:ext cx="2148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FFFFFF"/>
                </a:solidFill>
              </a:rPr>
              <a:t>Leads: assists, 3P%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2596896" y="4663440"/>
            <a:ext cx="2148840" cy="640080"/>
          </a:xfrm>
          <a:prstGeom prst="rect">
            <a:avLst/>
          </a:prstGeom>
          <a:solidFill>
            <a:srgbClr val="2266AA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2596896" y="4681728"/>
            <a:ext cx="2148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SG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2596896" y="4956048"/>
            <a:ext cx="2148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FFFFFF"/>
                </a:solidFill>
              </a:rPr>
              <a:t>Balanced: scoring + perimeter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4919472" y="4663440"/>
            <a:ext cx="2148840" cy="640080"/>
          </a:xfrm>
          <a:prstGeom prst="rect">
            <a:avLst/>
          </a:prstGeom>
          <a:solidFill>
            <a:srgbClr val="228844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919472" y="4681728"/>
            <a:ext cx="2148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SF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4919472" y="4956048"/>
            <a:ext cx="2148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FFFFFF"/>
                </a:solidFill>
              </a:rPr>
              <a:t>Most balanced overall profile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7242048" y="4663440"/>
            <a:ext cx="2148840" cy="640080"/>
          </a:xfrm>
          <a:prstGeom prst="rect">
            <a:avLst/>
          </a:prstGeom>
          <a:solidFill>
            <a:srgbClr val="AA6600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7242048" y="4681728"/>
            <a:ext cx="2148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PF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7242048" y="4956048"/>
            <a:ext cx="2148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FFFFFF"/>
                </a:solidFill>
              </a:rPr>
              <a:t>Transitional: inside + outside</a:t>
            </a:r>
            <a:endParaRPr lang="en-US" sz="900" dirty="0"/>
          </a:p>
        </p:txBody>
      </p:sp>
      <p:sp>
        <p:nvSpPr>
          <p:cNvPr id="22" name="Shape 20"/>
          <p:cNvSpPr/>
          <p:nvPr/>
        </p:nvSpPr>
        <p:spPr>
          <a:xfrm>
            <a:off x="9564624" y="4663440"/>
            <a:ext cx="2148840" cy="640080"/>
          </a:xfrm>
          <a:prstGeom prst="rect">
            <a:avLst/>
          </a:prstGeom>
          <a:solidFill>
            <a:srgbClr val="C8102E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9564624" y="4681728"/>
            <a:ext cx="2148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C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9564624" y="4956048"/>
            <a:ext cx="2148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FFFFFF"/>
                </a:solidFill>
              </a:rPr>
              <a:t>Leads: blocks, rebounds, WS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274320" y="5394960"/>
            <a:ext cx="11612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555555"/>
                </a:solidFill>
              </a:rPr>
              <a:t>Modern era: positional roles are converging — PFs &amp; Cs now shoot significantly more 3-pointers than in earlier eras.</a:t>
            </a:r>
            <a:endParaRPr lang="en-US" sz="1000" dirty="0"/>
          </a:p>
        </p:txBody>
      </p:sp>
      <p:pic>
        <p:nvPicPr>
          <p:cNvPr id="8" name="Resim 7">
            <a:extLst>
              <a:ext uri="{FF2B5EF4-FFF2-40B4-BE49-F238E27FC236}">
                <a16:creationId xmlns:a16="http://schemas.microsoft.com/office/drawing/2014/main" id="{9DD4F667-3711-451E-9A97-D700E02AAC4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4320" y="1143000"/>
            <a:ext cx="5909371" cy="3108960"/>
          </a:xfrm>
          <a:prstGeom prst="rect">
            <a:avLst/>
          </a:prstGeom>
        </p:spPr>
      </p:pic>
      <p:pic>
        <p:nvPicPr>
          <p:cNvPr id="29" name="Resim 28">
            <a:extLst>
              <a:ext uri="{FF2B5EF4-FFF2-40B4-BE49-F238E27FC236}">
                <a16:creationId xmlns:a16="http://schemas.microsoft.com/office/drawing/2014/main" id="{EBD15BF3-CE83-4C1E-9538-C7AD56F1CC2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094476" y="1636604"/>
            <a:ext cx="6432360" cy="2475091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502920"/>
          </a:xfrm>
          <a:prstGeom prst="rect">
            <a:avLst/>
          </a:prstGeom>
          <a:solidFill>
            <a:srgbClr val="1D428A"/>
          </a:solidFill>
          <a:ln/>
        </p:spPr>
      </p:sp>
      <p:sp>
        <p:nvSpPr>
          <p:cNvPr id="3" name="Text 1"/>
          <p:cNvSpPr/>
          <p:nvPr/>
        </p:nvSpPr>
        <p:spPr>
          <a:xfrm>
            <a:off x="228600" y="45720"/>
            <a:ext cx="114300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FFFFF"/>
                </a:solidFill>
              </a:rPr>
              <a:t>Technical Implementation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10972800" y="6400800"/>
            <a:ext cx="457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CCCCCC"/>
                </a:solidFill>
              </a:rPr>
              <a:t>11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274320" y="685800"/>
            <a:ext cx="5303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D428A"/>
                </a:solidFill>
              </a:rPr>
              <a:t>Technology Stack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274320" y="1143000"/>
            <a:ext cx="5303520" cy="658368"/>
          </a:xfrm>
          <a:prstGeom prst="rect">
            <a:avLst/>
          </a:prstGeom>
          <a:solidFill>
            <a:srgbClr val="EEF3FB"/>
          </a:solidFill>
          <a:ln w="6350">
            <a:solidFill>
              <a:srgbClr val="CCCCCC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11480" y="1188720"/>
            <a:ext cx="274320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D428A"/>
                </a:solidFill>
              </a:rPr>
              <a:t>Python 3.10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3200400" y="1188720"/>
            <a:ext cx="219456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55555"/>
                </a:solidFill>
              </a:rPr>
              <a:t>Language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274320" y="1892808"/>
            <a:ext cx="5303520" cy="658368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11480" y="1938528"/>
            <a:ext cx="274320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D428A"/>
                </a:solidFill>
              </a:rPr>
              <a:t>Streamlit ≥ 1.32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3200400" y="1938528"/>
            <a:ext cx="219456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55555"/>
                </a:solidFill>
              </a:rPr>
              <a:t>Dashboard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274320" y="2642616"/>
            <a:ext cx="5303520" cy="658368"/>
          </a:xfrm>
          <a:prstGeom prst="rect">
            <a:avLst/>
          </a:prstGeom>
          <a:solidFill>
            <a:srgbClr val="EEF3FB"/>
          </a:solidFill>
          <a:ln w="6350">
            <a:solidFill>
              <a:srgbClr val="CCCCCC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11480" y="2688336"/>
            <a:ext cx="274320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D428A"/>
                </a:solidFill>
              </a:rPr>
              <a:t>Plotly ≥ 5.20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3200400" y="2688336"/>
            <a:ext cx="219456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55555"/>
                </a:solidFill>
              </a:rPr>
              <a:t>Interactive charts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274320" y="3392424"/>
            <a:ext cx="5303520" cy="658368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11480" y="3438144"/>
            <a:ext cx="274320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D428A"/>
                </a:solidFill>
              </a:rPr>
              <a:t>Statsmodels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3200400" y="3438144"/>
            <a:ext cx="219456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55555"/>
                </a:solidFill>
              </a:rPr>
              <a:t>OLS trendlines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274320" y="4142232"/>
            <a:ext cx="5303520" cy="658368"/>
          </a:xfrm>
          <a:prstGeom prst="rect">
            <a:avLst/>
          </a:prstGeom>
          <a:solidFill>
            <a:srgbClr val="EEF3FB"/>
          </a:solidFill>
          <a:ln w="6350">
            <a:solidFill>
              <a:srgbClr val="CCCCCC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11480" y="4187952"/>
            <a:ext cx="274320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D428A"/>
                </a:solidFill>
              </a:rPr>
              <a:t>Pandas + NumPy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3200400" y="4187952"/>
            <a:ext cx="219456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55555"/>
                </a:solidFill>
              </a:rPr>
              <a:t>Data processing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5943600" y="685800"/>
            <a:ext cx="5943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D428A"/>
                </a:solidFill>
              </a:rPr>
              <a:t>Project Structure</a:t>
            </a:r>
            <a:endParaRPr lang="en-US" sz="1400" dirty="0"/>
          </a:p>
        </p:txBody>
      </p:sp>
      <p:sp>
        <p:nvSpPr>
          <p:cNvPr id="22" name="Shape 20"/>
          <p:cNvSpPr/>
          <p:nvPr/>
        </p:nvSpPr>
        <p:spPr>
          <a:xfrm>
            <a:off x="5943600" y="1143000"/>
            <a:ext cx="5943600" cy="4663440"/>
          </a:xfrm>
          <a:prstGeom prst="rect">
            <a:avLst/>
          </a:prstGeom>
          <a:solidFill>
            <a:srgbClr val="1E2D1E"/>
          </a:solidFill>
          <a:ln w="6350">
            <a:solidFill>
              <a:srgbClr val="333333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126480" y="1280160"/>
            <a:ext cx="557784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app.py</a:t>
            </a:r>
            <a:r>
              <a:rPr lang="en-US" sz="1100" dirty="0">
                <a:solidFill>
                  <a:srgbClr val="88FF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← entry point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6126480" y="1783080"/>
            <a:ext cx="557784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data_loader.py</a:t>
            </a:r>
            <a:r>
              <a:rPr lang="en-US" sz="1100" dirty="0">
                <a:solidFill>
                  <a:srgbClr val="88FF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← @st.cache_data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6126480" y="2286000"/>
            <a:ext cx="557784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AAAA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tabs/</a:t>
            </a:r>
            <a:r>
              <a:rPr lang="en-US" sz="1100" dirty="0">
                <a:solidFill>
                  <a:srgbClr val="AAAA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6126480" y="2788920"/>
            <a:ext cx="557784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DDDDD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tab_threept.py</a:t>
            </a:r>
            <a:r>
              <a:rPr lang="en-US" sz="1100" dirty="0">
                <a:solidFill>
                  <a:srgbClr val="FFAA4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← RQ1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6126480" y="3291840"/>
            <a:ext cx="557784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DDDDD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tab_physical.py</a:t>
            </a:r>
            <a:r>
              <a:rPr lang="en-US" sz="1100" dirty="0">
                <a:solidFill>
                  <a:srgbClr val="FFAA4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← RQ2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6126480" y="3794760"/>
            <a:ext cx="557784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DDDDD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tab_career.py</a:t>
            </a:r>
            <a:r>
              <a:rPr lang="en-US" sz="1100" dirty="0">
                <a:solidFill>
                  <a:srgbClr val="FFAA4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← RQ3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6126480" y="4297680"/>
            <a:ext cx="557784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DDDDD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tab_geo.py</a:t>
            </a:r>
            <a:r>
              <a:rPr lang="en-US" sz="1100" dirty="0">
                <a:solidFill>
                  <a:srgbClr val="FFAA4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← RQ4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6126480" y="4800600"/>
            <a:ext cx="557784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DDDDD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tab_positions.py</a:t>
            </a:r>
            <a:r>
              <a:rPr lang="en-US" sz="1100" dirty="0">
                <a:solidFill>
                  <a:srgbClr val="FFAA4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← RQ5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274320" y="5989320"/>
            <a:ext cx="116128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i="1" dirty="0">
                <a:solidFill>
                  <a:srgbClr val="555555"/>
                </a:solidFill>
              </a:rPr>
              <a:t>All charts are interactive — hover, zoom, filter by era / position / country</a:t>
            </a:r>
            <a:endParaRPr lang="en-US" sz="11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502920"/>
          </a:xfrm>
          <a:prstGeom prst="rect">
            <a:avLst/>
          </a:prstGeom>
          <a:solidFill>
            <a:srgbClr val="1D428A"/>
          </a:solidFill>
          <a:ln/>
        </p:spPr>
      </p:sp>
      <p:sp>
        <p:nvSpPr>
          <p:cNvPr id="3" name="Text 1"/>
          <p:cNvSpPr/>
          <p:nvPr/>
        </p:nvSpPr>
        <p:spPr>
          <a:xfrm>
            <a:off x="228600" y="45720"/>
            <a:ext cx="114300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FFFFF"/>
                </a:solidFill>
              </a:rPr>
              <a:t>Conclusion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10972800" y="6400800"/>
            <a:ext cx="457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CCCCCC"/>
                </a:solidFill>
              </a:rPr>
              <a:t>12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274320" y="685800"/>
            <a:ext cx="5760720" cy="1600200"/>
          </a:xfrm>
          <a:prstGeom prst="rect">
            <a:avLst/>
          </a:prstGeom>
          <a:solidFill>
            <a:srgbClr val="F8F9FF"/>
          </a:solidFill>
          <a:ln w="19050">
            <a:solidFill>
              <a:srgbClr val="C8102E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274320" y="685800"/>
            <a:ext cx="457200" cy="1600200"/>
          </a:xfrm>
          <a:prstGeom prst="rect">
            <a:avLst/>
          </a:prstGeom>
          <a:solidFill>
            <a:srgbClr val="C8102E"/>
          </a:solidFill>
          <a:ln/>
        </p:spPr>
      </p:sp>
      <p:sp>
        <p:nvSpPr>
          <p:cNvPr id="7" name="Text 5"/>
          <p:cNvSpPr/>
          <p:nvPr/>
        </p:nvSpPr>
        <p:spPr>
          <a:xfrm>
            <a:off x="777240" y="822960"/>
            <a:ext cx="51206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000000"/>
                </a:solidFill>
              </a:rPr>
              <a:t>🏀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777240" y="1188720"/>
            <a:ext cx="5120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C8102E"/>
                </a:solidFill>
              </a:rPr>
              <a:t>Three-Point Revolution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777240" y="1508760"/>
            <a:ext cx="51206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11111"/>
                </a:solidFill>
              </a:rPr>
              <a:t>11× increase in 3PA/game since 1979; strategy fundamentally transformed.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6263640" y="685800"/>
            <a:ext cx="5760720" cy="1600200"/>
          </a:xfrm>
          <a:prstGeom prst="rect">
            <a:avLst/>
          </a:prstGeom>
          <a:solidFill>
            <a:srgbClr val="F8F9FF"/>
          </a:solidFill>
          <a:ln w="19050">
            <a:solidFill>
              <a:srgbClr val="1D428A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6263640" y="685800"/>
            <a:ext cx="457200" cy="1600200"/>
          </a:xfrm>
          <a:prstGeom prst="rect">
            <a:avLst/>
          </a:prstGeom>
          <a:solidFill>
            <a:srgbClr val="1D428A"/>
          </a:solidFill>
          <a:ln/>
        </p:spPr>
      </p:sp>
      <p:sp>
        <p:nvSpPr>
          <p:cNvPr id="12" name="Text 10"/>
          <p:cNvSpPr/>
          <p:nvPr/>
        </p:nvSpPr>
        <p:spPr>
          <a:xfrm>
            <a:off x="6766560" y="822960"/>
            <a:ext cx="51206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000000"/>
                </a:solidFill>
              </a:rPr>
              <a:t>📏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6766560" y="1188720"/>
            <a:ext cx="5120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D428A"/>
                </a:solidFill>
              </a:rPr>
              <a:t>Physical Attributes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6766560" y="1508760"/>
            <a:ext cx="51206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11111"/>
                </a:solidFill>
              </a:rPr>
              <a:t>Height/weight weakly predict scoring; diverse body types rewarded.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274320" y="2514600"/>
            <a:ext cx="5760720" cy="1600200"/>
          </a:xfrm>
          <a:prstGeom prst="rect">
            <a:avLst/>
          </a:prstGeom>
          <a:solidFill>
            <a:srgbClr val="F8F9FF"/>
          </a:solidFill>
          <a:ln w="19050">
            <a:solidFill>
              <a:srgbClr val="228844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274320" y="2514600"/>
            <a:ext cx="457200" cy="1600200"/>
          </a:xfrm>
          <a:prstGeom prst="rect">
            <a:avLst/>
          </a:prstGeom>
          <a:solidFill>
            <a:srgbClr val="228844"/>
          </a:solidFill>
          <a:ln/>
        </p:spPr>
      </p:sp>
      <p:sp>
        <p:nvSpPr>
          <p:cNvPr id="17" name="Text 15"/>
          <p:cNvSpPr/>
          <p:nvPr/>
        </p:nvSpPr>
        <p:spPr>
          <a:xfrm>
            <a:off x="777240" y="2651760"/>
            <a:ext cx="51206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000000"/>
                </a:solidFill>
              </a:rPr>
              <a:t>📈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777240" y="3017520"/>
            <a:ext cx="5120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28844"/>
                </a:solidFill>
              </a:rPr>
              <a:t>Career Arc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777240" y="3337560"/>
            <a:ext cx="51206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11111"/>
                </a:solidFill>
              </a:rPr>
              <a:t>Universal scoring peak at age 26–27; survivorship bias after 35.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6263640" y="2514600"/>
            <a:ext cx="5760720" cy="1600200"/>
          </a:xfrm>
          <a:prstGeom prst="rect">
            <a:avLst/>
          </a:prstGeom>
          <a:solidFill>
            <a:srgbClr val="F8F9FF"/>
          </a:solidFill>
          <a:ln w="19050">
            <a:solidFill>
              <a:srgbClr val="996600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6263640" y="2514600"/>
            <a:ext cx="457200" cy="1600200"/>
          </a:xfrm>
          <a:prstGeom prst="rect">
            <a:avLst/>
          </a:prstGeom>
          <a:solidFill>
            <a:srgbClr val="996600"/>
          </a:solidFill>
          <a:ln/>
        </p:spPr>
      </p:sp>
      <p:sp>
        <p:nvSpPr>
          <p:cNvPr id="22" name="Text 20"/>
          <p:cNvSpPr/>
          <p:nvPr/>
        </p:nvSpPr>
        <p:spPr>
          <a:xfrm>
            <a:off x="6766560" y="2651760"/>
            <a:ext cx="51206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000000"/>
                </a:solidFill>
              </a:rPr>
              <a:t>🌍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6766560" y="3017520"/>
            <a:ext cx="5120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996600"/>
                </a:solidFill>
              </a:rPr>
              <a:t>Globalization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6766560" y="3337560"/>
            <a:ext cx="51206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11111"/>
                </a:solidFill>
              </a:rPr>
              <a:t>NBA talent spans 82 countries; international growth accelerated post-2000.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274320" y="4343400"/>
            <a:ext cx="5760720" cy="1600200"/>
          </a:xfrm>
          <a:prstGeom prst="rect">
            <a:avLst/>
          </a:prstGeom>
          <a:solidFill>
            <a:srgbClr val="F8F9FF"/>
          </a:solidFill>
          <a:ln w="19050">
            <a:solidFill>
              <a:srgbClr val="8800AA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274320" y="4343400"/>
            <a:ext cx="457200" cy="1600200"/>
          </a:xfrm>
          <a:prstGeom prst="rect">
            <a:avLst/>
          </a:prstGeom>
          <a:solidFill>
            <a:srgbClr val="8800AA"/>
          </a:solidFill>
          <a:ln/>
        </p:spPr>
      </p:sp>
      <p:sp>
        <p:nvSpPr>
          <p:cNvPr id="27" name="Text 25"/>
          <p:cNvSpPr/>
          <p:nvPr/>
        </p:nvSpPr>
        <p:spPr>
          <a:xfrm>
            <a:off x="777240" y="4480560"/>
            <a:ext cx="51206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000000"/>
                </a:solidFill>
              </a:rPr>
              <a:t>🏃</a:t>
            </a:r>
            <a:endParaRPr lang="en-US" sz="1600" dirty="0"/>
          </a:p>
        </p:txBody>
      </p:sp>
      <p:sp>
        <p:nvSpPr>
          <p:cNvPr id="28" name="Text 26"/>
          <p:cNvSpPr/>
          <p:nvPr/>
        </p:nvSpPr>
        <p:spPr>
          <a:xfrm>
            <a:off x="777240" y="4846320"/>
            <a:ext cx="5120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8800AA"/>
                </a:solidFill>
              </a:rPr>
              <a:t>Position Convergence</a:t>
            </a:r>
            <a:endParaRPr lang="en-US" sz="1300" dirty="0"/>
          </a:p>
        </p:txBody>
      </p:sp>
      <p:sp>
        <p:nvSpPr>
          <p:cNvPr id="29" name="Text 27"/>
          <p:cNvSpPr/>
          <p:nvPr/>
        </p:nvSpPr>
        <p:spPr>
          <a:xfrm>
            <a:off x="777240" y="5166360"/>
            <a:ext cx="51206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11111"/>
                </a:solidFill>
              </a:rPr>
              <a:t>Distinct profiles remain, but positional boundaries are blurring.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6263640" y="4343400"/>
            <a:ext cx="5760720" cy="1600200"/>
          </a:xfrm>
          <a:prstGeom prst="rect">
            <a:avLst/>
          </a:prstGeom>
          <a:solidFill>
            <a:srgbClr val="F8F9FF"/>
          </a:solidFill>
          <a:ln w="19050">
            <a:solidFill>
              <a:srgbClr val="005577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6263640" y="4343400"/>
            <a:ext cx="457200" cy="1600200"/>
          </a:xfrm>
          <a:prstGeom prst="rect">
            <a:avLst/>
          </a:prstGeom>
          <a:solidFill>
            <a:srgbClr val="005577"/>
          </a:solidFill>
          <a:ln/>
        </p:spPr>
      </p:sp>
      <p:sp>
        <p:nvSpPr>
          <p:cNvPr id="32" name="Text 30"/>
          <p:cNvSpPr/>
          <p:nvPr/>
        </p:nvSpPr>
        <p:spPr>
          <a:xfrm>
            <a:off x="6766560" y="4480560"/>
            <a:ext cx="51206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000000"/>
                </a:solidFill>
              </a:rPr>
              <a:t>💻</a:t>
            </a:r>
            <a:endParaRPr lang="en-US" sz="1600" dirty="0"/>
          </a:p>
        </p:txBody>
      </p:sp>
      <p:sp>
        <p:nvSpPr>
          <p:cNvPr id="33" name="Text 31"/>
          <p:cNvSpPr/>
          <p:nvPr/>
        </p:nvSpPr>
        <p:spPr>
          <a:xfrm>
            <a:off x="6766560" y="4846320"/>
            <a:ext cx="5120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05577"/>
                </a:solidFill>
              </a:rPr>
              <a:t>Dashboard</a:t>
            </a:r>
            <a:endParaRPr lang="en-US" sz="1300" dirty="0"/>
          </a:p>
        </p:txBody>
      </p:sp>
      <p:sp>
        <p:nvSpPr>
          <p:cNvPr id="34" name="Text 32"/>
          <p:cNvSpPr/>
          <p:nvPr/>
        </p:nvSpPr>
        <p:spPr>
          <a:xfrm>
            <a:off x="6766560" y="5166360"/>
            <a:ext cx="51206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11111"/>
                </a:solidFill>
              </a:rPr>
              <a:t>5 tabs · 15+ interactive charts · dynamic filters for exploration.</a:t>
            </a:r>
            <a:endParaRPr lang="en-US" sz="11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1D428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6035040"/>
            <a:ext cx="12188952" cy="228600"/>
          </a:xfrm>
          <a:prstGeom prst="rect">
            <a:avLst/>
          </a:prstGeom>
          <a:solidFill>
            <a:srgbClr val="C8102E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1188720"/>
            <a:ext cx="109728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4800" b="1" dirty="0">
                <a:solidFill>
                  <a:srgbClr val="FFFFFF"/>
                </a:solidFill>
              </a:rPr>
              <a:t>Thank You</a:t>
            </a:r>
            <a:endParaRPr lang="en-US" sz="4800" dirty="0"/>
          </a:p>
        </p:txBody>
      </p:sp>
      <p:sp>
        <p:nvSpPr>
          <p:cNvPr id="4" name="Text 2"/>
          <p:cNvSpPr/>
          <p:nvPr/>
        </p:nvSpPr>
        <p:spPr>
          <a:xfrm>
            <a:off x="548640" y="2286000"/>
            <a:ext cx="109728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i="1" dirty="0">
                <a:solidFill>
                  <a:srgbClr val="AACCFF"/>
                </a:solidFill>
              </a:rPr>
              <a:t>Questions &amp; Discussion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3200400" y="2926080"/>
            <a:ext cx="5760720" cy="36576"/>
          </a:xfrm>
          <a:prstGeom prst="rect">
            <a:avLst/>
          </a:prstGeom>
          <a:solidFill>
            <a:srgbClr val="C8102E"/>
          </a:solidFill>
          <a:ln/>
        </p:spPr>
      </p:sp>
      <p:sp>
        <p:nvSpPr>
          <p:cNvPr id="6" name="Text 4"/>
          <p:cNvSpPr/>
          <p:nvPr/>
        </p:nvSpPr>
        <p:spPr>
          <a:xfrm>
            <a:off x="548640" y="3063240"/>
            <a:ext cx="109728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C8102E"/>
                </a:solidFill>
              </a:rPr>
              <a:t>DataVIZZ</a:t>
            </a:r>
            <a:endParaRPr lang="en-US" sz="2600" dirty="0"/>
          </a:p>
        </p:txBody>
      </p:sp>
      <p:sp>
        <p:nvSpPr>
          <p:cNvPr id="7" name="Text 5"/>
          <p:cNvSpPr/>
          <p:nvPr/>
        </p:nvSpPr>
        <p:spPr>
          <a:xfrm>
            <a:off x="548640" y="3749040"/>
            <a:ext cx="10972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dirty="0">
                <a:solidFill>
                  <a:srgbClr val="CCDDFF"/>
                </a:solidFill>
              </a:rPr>
              <a:t>Nurettin Macit  ·  Mehmet Arda Öncel  ·  Yusuf Oğuz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548640" y="475488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99AABB"/>
                </a:solidFill>
              </a:rPr>
              <a:t>Dataset: Kaggle / Basketball Reference     ·     Tools: Python · Streamlit · Plotly · Pandas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eması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12</TotalTime>
  <Words>1022</Words>
  <Application>Microsoft Office PowerPoint</Application>
  <PresentationFormat>Geniş ekran</PresentationFormat>
  <Paragraphs>224</Paragraphs>
  <Slides>13</Slides>
  <Notes>13</Notes>
  <HiddenSlides>0</HiddenSlides>
  <MMClips>0</MMClips>
  <ScaleCrop>false</ScaleCrop>
  <HeadingPairs>
    <vt:vector size="6" baseType="variant">
      <vt:variant>
        <vt:lpstr>Kullanılan Yazı Tipleri</vt:lpstr>
      </vt:variant>
      <vt:variant>
        <vt:i4>3</vt:i4>
      </vt:variant>
      <vt:variant>
        <vt:lpstr>Tema</vt:lpstr>
      </vt:variant>
      <vt:variant>
        <vt:i4>1</vt:i4>
      </vt:variant>
      <vt:variant>
        <vt:lpstr>Slayt Başlıkları</vt:lpstr>
      </vt:variant>
      <vt:variant>
        <vt:i4>13</vt:i4>
      </vt:variant>
    </vt:vector>
  </HeadingPairs>
  <TitlesOfParts>
    <vt:vector size="17" baseType="lpstr">
      <vt:lpstr>Arial</vt:lpstr>
      <vt:lpstr>Calibri</vt:lpstr>
      <vt:lpstr>Courier New</vt:lpstr>
      <vt:lpstr>Office Theme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Yusuf Oğuz</cp:lastModifiedBy>
  <cp:revision>3</cp:revision>
  <dcterms:created xsi:type="dcterms:W3CDTF">2026-05-12T21:28:00Z</dcterms:created>
  <dcterms:modified xsi:type="dcterms:W3CDTF">2026-05-13T15:09:18Z</dcterms:modified>
</cp:coreProperties>
</file>